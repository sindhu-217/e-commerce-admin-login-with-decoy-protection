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73" r:id="rId8"/>
    <p:sldId id="262" r:id="rId9"/>
    <p:sldId id="263" r:id="rId10"/>
    <p:sldId id="264" r:id="rId11"/>
    <p:sldId id="265" r:id="rId12"/>
    <p:sldId id="266" r:id="rId13"/>
    <p:sldId id="269" r:id="rId14"/>
    <p:sldId id="268" r:id="rId15"/>
    <p:sldId id="274" r:id="rId16"/>
    <p:sldId id="275" r:id="rId17"/>
    <p:sldId id="271" r:id="rId18"/>
    <p:sldId id="272" r:id="rId19"/>
  </p:sldIdLst>
  <p:sldSz cx="12192000" cy="6858000"/>
  <p:notesSz cx="6858000" cy="9144000"/>
  <p:embeddedFontLst>
    <p:embeddedFont>
      <p:font typeface="Arial Narrow" panose="020B0606020202030204" pitchFamily="34"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8" roundtripDataSignature="AMtx7mgf10L9/O25FquuOPl/RY1EpRjfO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CDD818E-ADFA-4579-856F-A3140DA02BD1}">
  <a:tblStyle styleId="{3CDD818E-ADFA-4579-856F-A3140DA02BD1}"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BF1E8"/>
          </a:solidFill>
        </a:fill>
      </a:tcStyle>
    </a:wholeTbl>
    <a:band1H>
      <a:tcTxStyle/>
      <a:tcStyle>
        <a:tcBdr/>
        <a:fill>
          <a:solidFill>
            <a:srgbClr val="D4E2CE"/>
          </a:solidFill>
        </a:fill>
      </a:tcStyle>
    </a:band1H>
    <a:band2H>
      <a:tcTxStyle/>
      <a:tcStyle>
        <a:tcBdr/>
      </a:tcStyle>
    </a:band2H>
    <a:band1V>
      <a:tcTxStyle/>
      <a:tcStyle>
        <a:tcBdr/>
        <a:fill>
          <a:solidFill>
            <a:srgbClr val="D4E2CE"/>
          </a:solidFill>
        </a:fill>
      </a:tcStyle>
    </a:band1V>
    <a:band2V>
      <a:tcTxStyle/>
      <a:tcStyle>
        <a:tcBdr/>
      </a:tcStyle>
    </a:band2V>
    <a:lastCol>
      <a:tcTxStyle b="on" i="off">
        <a:font>
          <a:latin typeface="Calibri"/>
          <a:ea typeface="Calibri"/>
          <a:cs typeface="Calibri"/>
        </a:font>
        <a:schemeClr val="lt1"/>
      </a:tcTxStyle>
      <a:tcStyle>
        <a:tcBdr/>
        <a:fill>
          <a:solidFill>
            <a:schemeClr val="accent6"/>
          </a:solidFill>
        </a:fill>
      </a:tcStyle>
    </a:lastCol>
    <a:firstCol>
      <a:tcTxStyle b="on" i="off">
        <a:font>
          <a:latin typeface="Calibri"/>
          <a:ea typeface="Calibri"/>
          <a:cs typeface="Calibri"/>
        </a:font>
        <a:schemeClr val="lt1"/>
      </a:tcTxStyle>
      <a:tcStyle>
        <a:tcBdr/>
        <a:fill>
          <a:solidFill>
            <a:schemeClr val="accent6"/>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6"/>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6"/>
          </a:solidFill>
        </a:fill>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a:extLst>
            <a:ext uri="{FF2B5EF4-FFF2-40B4-BE49-F238E27FC236}">
              <a16:creationId xmlns:a16="http://schemas.microsoft.com/office/drawing/2014/main" id="{FFC7DFEF-3B2E-D017-0B21-BC210BF462AC}"/>
            </a:ext>
          </a:extLst>
        </p:cNvPr>
        <p:cNvGrpSpPr/>
        <p:nvPr/>
      </p:nvGrpSpPr>
      <p:grpSpPr>
        <a:xfrm>
          <a:off x="0" y="0"/>
          <a:ext cx="0" cy="0"/>
          <a:chOff x="0" y="0"/>
          <a:chExt cx="0" cy="0"/>
        </a:xfrm>
      </p:grpSpPr>
      <p:sp>
        <p:nvSpPr>
          <p:cNvPr id="123" name="Google Shape;123;p6:notes">
            <a:extLst>
              <a:ext uri="{FF2B5EF4-FFF2-40B4-BE49-F238E27FC236}">
                <a16:creationId xmlns:a16="http://schemas.microsoft.com/office/drawing/2014/main" id="{1B5CA6E9-7386-2799-6840-751B808D742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6:notes">
            <a:extLst>
              <a:ext uri="{FF2B5EF4-FFF2-40B4-BE49-F238E27FC236}">
                <a16:creationId xmlns:a16="http://schemas.microsoft.com/office/drawing/2014/main" id="{EA42349E-92BC-7FC0-2C31-D4076D7383E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71983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 name="Google Shape;15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9" name="Google Shape;179;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72" name="Google Shape;17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a:extLst>
            <a:ext uri="{FF2B5EF4-FFF2-40B4-BE49-F238E27FC236}">
              <a16:creationId xmlns:a16="http://schemas.microsoft.com/office/drawing/2014/main" id="{3C1E655B-A341-3619-F687-C18AD4E094FE}"/>
            </a:ext>
          </a:extLst>
        </p:cNvPr>
        <p:cNvGrpSpPr/>
        <p:nvPr/>
      </p:nvGrpSpPr>
      <p:grpSpPr>
        <a:xfrm>
          <a:off x="0" y="0"/>
          <a:ext cx="0" cy="0"/>
          <a:chOff x="0" y="0"/>
          <a:chExt cx="0" cy="0"/>
        </a:xfrm>
      </p:grpSpPr>
      <p:sp>
        <p:nvSpPr>
          <p:cNvPr id="191" name="Google Shape;191;p16:notes">
            <a:extLst>
              <a:ext uri="{FF2B5EF4-FFF2-40B4-BE49-F238E27FC236}">
                <a16:creationId xmlns:a16="http://schemas.microsoft.com/office/drawing/2014/main" id="{42A01C9D-D513-EC7A-DB57-5A2A126154D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92" name="Google Shape;192;p16:notes">
            <a:extLst>
              <a:ext uri="{FF2B5EF4-FFF2-40B4-BE49-F238E27FC236}">
                <a16:creationId xmlns:a16="http://schemas.microsoft.com/office/drawing/2014/main" id="{20F5E407-20E3-63F2-7964-49A89E8D03B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88533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5"/>
        <p:cNvGrpSpPr/>
        <p:nvPr/>
      </p:nvGrpSpPr>
      <p:grpSpPr>
        <a:xfrm>
          <a:off x="0" y="0"/>
          <a:ext cx="0" cy="0"/>
          <a:chOff x="0" y="0"/>
          <a:chExt cx="0" cy="0"/>
        </a:xfrm>
      </p:grpSpPr>
      <p:sp>
        <p:nvSpPr>
          <p:cNvPr id="26" name="Google Shape;26;p2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2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8" name="Google Shape;28;p2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2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0" name="Google Shape;30;p2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4"/>
        <p:cNvGrpSpPr/>
        <p:nvPr/>
      </p:nvGrpSpPr>
      <p:grpSpPr>
        <a:xfrm>
          <a:off x="0" y="0"/>
          <a:ext cx="0" cy="0"/>
          <a:chOff x="0" y="0"/>
          <a:chExt cx="0" cy="0"/>
        </a:xfrm>
      </p:grpSpPr>
      <p:sp>
        <p:nvSpPr>
          <p:cNvPr id="35" name="Google Shape;35;p2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2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7" name="Google Shape;37;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2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6"/>
        <p:cNvGrpSpPr/>
        <p:nvPr/>
      </p:nvGrpSpPr>
      <p:grpSpPr>
        <a:xfrm>
          <a:off x="0" y="0"/>
          <a:ext cx="0" cy="0"/>
          <a:chOff x="0" y="0"/>
          <a:chExt cx="0" cy="0"/>
        </a:xfrm>
      </p:grpSpPr>
      <p:sp>
        <p:nvSpPr>
          <p:cNvPr id="47" name="Google Shape;47;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2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2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6"/>
          <p:cNvSpPr>
            <a:spLocks noGrp="1"/>
          </p:cNvSpPr>
          <p:nvPr>
            <p:ph type="pic" idx="2"/>
          </p:nvPr>
        </p:nvSpPr>
        <p:spPr>
          <a:xfrm>
            <a:off x="5183188" y="987425"/>
            <a:ext cx="6172200" cy="4873625"/>
          </a:xfrm>
          <a:prstGeom prst="rect">
            <a:avLst/>
          </a:prstGeom>
          <a:noFill/>
          <a:ln>
            <a:noFill/>
          </a:ln>
        </p:spPr>
      </p:sp>
      <p:sp>
        <p:nvSpPr>
          <p:cNvPr id="68" name="Google Shape;68;p2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7"/>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8"/>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8"/>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body" idx="1"/>
          </p:nvPr>
        </p:nvSpPr>
        <p:spPr>
          <a:xfrm>
            <a:off x="0" y="2342250"/>
            <a:ext cx="12119100" cy="41946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1000"/>
              </a:spcBef>
              <a:spcAft>
                <a:spcPts val="0"/>
              </a:spcAft>
              <a:buClr>
                <a:schemeClr val="dk1"/>
              </a:buClr>
              <a:buSzPts val="3600"/>
              <a:buNone/>
            </a:pPr>
            <a:r>
              <a:rPr lang="en-US" sz="3200" b="1" dirty="0">
                <a:latin typeface="Times New Roman" panose="02020603050405020304" pitchFamily="18" charset="0"/>
                <a:ea typeface="Arial Narrow"/>
                <a:cs typeface="Times New Roman" panose="02020603050405020304" pitchFamily="18" charset="0"/>
                <a:sym typeface="Arial Narrow"/>
              </a:rPr>
              <a:t>DEPARTMENT OF COMPUTER SCIENCE AND ENGINEERING</a:t>
            </a:r>
          </a:p>
          <a:p>
            <a:pPr marL="0" lvl="0" indent="0" algn="ctr">
              <a:buSzPts val="3600"/>
              <a:buNone/>
            </a:pPr>
            <a:r>
              <a:rPr lang="en-US" b="1" dirty="0">
                <a:latin typeface="Times New Roman" panose="02020603050405020304" pitchFamily="18" charset="0"/>
                <a:cs typeface="Times New Roman" panose="02020603050405020304" pitchFamily="18" charset="0"/>
              </a:rPr>
              <a:t>CSB1332 &amp; DESIGN PROJECT</a:t>
            </a:r>
            <a:endParaRPr lang="en-US" b="1" dirty="0">
              <a:latin typeface="Times New Roman" panose="02020603050405020304" pitchFamily="18" charset="0"/>
              <a:cs typeface="Times New Roman" panose="02020603050405020304" pitchFamily="18" charset="0"/>
              <a:sym typeface="Arial Narrow"/>
            </a:endParaRPr>
          </a:p>
          <a:p>
            <a:pPr marL="0" lvl="0" indent="0" algn="ctr">
              <a:buSzPts val="2800"/>
              <a:buNone/>
            </a:pPr>
            <a:r>
              <a:rPr lang="en-US" b="1" dirty="0">
                <a:latin typeface="Times New Roman" panose="02020603050405020304" pitchFamily="18" charset="0"/>
                <a:cs typeface="Times New Roman" panose="02020603050405020304" pitchFamily="18" charset="0"/>
                <a:sym typeface="Arial Narrow"/>
              </a:rPr>
              <a:t>END SEMESTER PRACTICAL EXAMINATION – MAY ( 2026)</a:t>
            </a:r>
          </a:p>
          <a:p>
            <a:pPr marL="0" lvl="0" indent="0" algn="ctr">
              <a:buSzPts val="2800"/>
              <a:buNone/>
            </a:pPr>
            <a:endParaRPr lang="en-US" sz="3600" b="1" dirty="0">
              <a:latin typeface="Arial Narrow"/>
              <a:ea typeface="Arial Narrow"/>
              <a:cs typeface="Arial Narrow"/>
              <a:sym typeface="Arial Narrow"/>
            </a:endParaRPr>
          </a:p>
          <a:p>
            <a:pPr marL="0" lvl="0" indent="0" algn="l" rtl="0">
              <a:lnSpc>
                <a:spcPct val="90000"/>
              </a:lnSpc>
              <a:spcBef>
                <a:spcPts val="1000"/>
              </a:spcBef>
              <a:spcAft>
                <a:spcPts val="0"/>
              </a:spcAft>
              <a:buClr>
                <a:schemeClr val="dk1"/>
              </a:buClr>
              <a:buSzPts val="2400"/>
              <a:buNone/>
            </a:pPr>
            <a:r>
              <a:rPr lang="en-US" sz="2400" b="1" dirty="0">
                <a:latin typeface="Times New Roman" panose="02020603050405020304" pitchFamily="18" charset="0"/>
                <a:ea typeface="Arial Narrow"/>
                <a:cs typeface="Times New Roman" panose="02020603050405020304" pitchFamily="18" charset="0"/>
                <a:sym typeface="Arial Narrow"/>
              </a:rPr>
              <a:t> Batch No: 04</a:t>
            </a:r>
            <a:endParaRPr lang="en-US" dirty="0">
              <a:latin typeface="Times New Roman" panose="02020603050405020304" pitchFamily="18" charset="0"/>
              <a:ea typeface="Arial Narrow"/>
              <a:cs typeface="Times New Roman" panose="02020603050405020304" pitchFamily="18" charset="0"/>
              <a:sym typeface="Arial Narrow"/>
            </a:endParaRPr>
          </a:p>
          <a:p>
            <a:pPr marL="0" lvl="0" indent="0" algn="l" rtl="0">
              <a:lnSpc>
                <a:spcPct val="90000"/>
              </a:lnSpc>
              <a:spcBef>
                <a:spcPts val="1000"/>
              </a:spcBef>
              <a:spcAft>
                <a:spcPts val="0"/>
              </a:spcAft>
              <a:buClr>
                <a:schemeClr val="dk1"/>
              </a:buClr>
              <a:buSzPts val="2400"/>
              <a:buNone/>
            </a:pPr>
            <a:r>
              <a:rPr lang="en-US" sz="2400" b="1" dirty="0">
                <a:latin typeface="Times New Roman" panose="02020603050405020304" pitchFamily="18" charset="0"/>
                <a:ea typeface="Arial Narrow"/>
                <a:cs typeface="Times New Roman" panose="02020603050405020304" pitchFamily="18" charset="0"/>
                <a:sym typeface="Arial Narrow"/>
              </a:rPr>
              <a:t> Date: 05 / 05 / 2026</a:t>
            </a:r>
          </a:p>
          <a:p>
            <a:pPr marL="0" lvl="0" indent="0" algn="l" rtl="0">
              <a:lnSpc>
                <a:spcPct val="90000"/>
              </a:lnSpc>
              <a:spcBef>
                <a:spcPts val="1000"/>
              </a:spcBef>
              <a:spcAft>
                <a:spcPts val="0"/>
              </a:spcAft>
              <a:buClr>
                <a:schemeClr val="dk1"/>
              </a:buClr>
              <a:buSzPts val="2400"/>
              <a:buNone/>
            </a:pPr>
            <a:r>
              <a:rPr lang="en-US" sz="2400" b="1" dirty="0">
                <a:latin typeface="Times New Roman" panose="02020603050405020304" pitchFamily="18" charset="0"/>
                <a:ea typeface="Arial Narrow"/>
                <a:cs typeface="Times New Roman" panose="02020603050405020304" pitchFamily="18" charset="0"/>
                <a:sym typeface="Arial Narrow"/>
              </a:rPr>
              <a:t> Session: FN</a:t>
            </a:r>
            <a:endParaRPr b="1" dirty="0">
              <a:latin typeface="Times New Roman" panose="02020603050405020304" pitchFamily="18" charset="0"/>
              <a:ea typeface="Arial Narrow"/>
              <a:cs typeface="Times New Roman" panose="02020603050405020304" pitchFamily="18" charset="0"/>
              <a:sym typeface="Arial Narrow"/>
            </a:endParaRPr>
          </a:p>
        </p:txBody>
      </p:sp>
      <p:sp>
        <p:nvSpPr>
          <p:cNvPr id="89" name="Google Shape;89;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latin typeface="Times New Roman"/>
                <a:ea typeface="Times New Roman"/>
                <a:cs typeface="Times New Roman"/>
                <a:sym typeface="Times New Roman"/>
              </a:rPr>
              <a:t>1</a:t>
            </a:fld>
            <a:endParaRPr b="1">
              <a:solidFill>
                <a:schemeClr val="dk1"/>
              </a:solidFill>
              <a:latin typeface="Times New Roman"/>
              <a:ea typeface="Times New Roman"/>
              <a:cs typeface="Times New Roman"/>
              <a:sym typeface="Times New Roman"/>
            </a:endParaRPr>
          </a:p>
        </p:txBody>
      </p:sp>
      <p:pic>
        <p:nvPicPr>
          <p:cNvPr id="91" name="Google Shape;91;p1"/>
          <p:cNvPicPr preferRelativeResize="0"/>
          <p:nvPr/>
        </p:nvPicPr>
        <p:blipFill>
          <a:blip r:embed="rId3">
            <a:alphaModFix/>
          </a:blip>
          <a:srcRect l="16357" r="14907" b="8148"/>
          <a:stretch>
            <a:fillRect/>
          </a:stretch>
        </p:blipFill>
        <p:spPr>
          <a:xfrm>
            <a:off x="11215585" y="65332"/>
            <a:ext cx="903515" cy="511635"/>
          </a:xfrm>
          <a:prstGeom prst="rect">
            <a:avLst/>
          </a:prstGeom>
          <a:noFill/>
          <a:ln>
            <a:noFill/>
          </a:ln>
        </p:spPr>
      </p:pic>
      <p:pic>
        <p:nvPicPr>
          <p:cNvPr id="3" name="Picture 2">
            <a:extLst>
              <a:ext uri="{FF2B5EF4-FFF2-40B4-BE49-F238E27FC236}">
                <a16:creationId xmlns:a16="http://schemas.microsoft.com/office/drawing/2014/main" id="{1F1154A9-AC42-7CD3-98A5-5A0376D6534E}"/>
              </a:ext>
            </a:extLst>
          </p:cNvPr>
          <p:cNvPicPr>
            <a:picLocks noChangeAspect="1"/>
          </p:cNvPicPr>
          <p:nvPr/>
        </p:nvPicPr>
        <p:blipFill>
          <a:blip r:embed="rId4"/>
          <a:stretch>
            <a:fillRect/>
          </a:stretch>
        </p:blipFill>
        <p:spPr>
          <a:xfrm>
            <a:off x="104932" y="0"/>
            <a:ext cx="5348811" cy="187359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body" idx="1"/>
          </p:nvPr>
        </p:nvSpPr>
        <p:spPr>
          <a:xfrm>
            <a:off x="36450" y="538686"/>
            <a:ext cx="12119100" cy="792900"/>
          </a:xfrm>
          <a:prstGeom prst="rect">
            <a:avLst/>
          </a:prstGeom>
          <a:noFill/>
          <a:ln>
            <a:noFill/>
          </a:ln>
        </p:spPr>
        <p:txBody>
          <a:bodyPr spcFirstLastPara="1" wrap="square" lIns="91425" tIns="45700" rIns="91425" bIns="45700" anchor="t" anchorCtr="0">
            <a:normAutofit fontScale="92500"/>
          </a:bodyPr>
          <a:lstStyle/>
          <a:p>
            <a:pPr marL="0" indent="0" algn="ctr">
              <a:buSzPts val="3600"/>
              <a:buNone/>
            </a:pPr>
            <a:r>
              <a:rPr lang="en-US" sz="3600" b="1" dirty="0">
                <a:latin typeface="Times New Roman" panose="02020603050405020304" pitchFamily="18" charset="0"/>
                <a:cs typeface="Times New Roman" panose="02020603050405020304" pitchFamily="18" charset="0"/>
              </a:rPr>
              <a:t>E-COMMERCE ADMIN LOGIN WITH DECOY PROTECTION</a:t>
            </a:r>
          </a:p>
          <a:p>
            <a:pPr marL="0" lvl="0" indent="0" algn="ctr" rtl="0">
              <a:lnSpc>
                <a:spcPct val="90000"/>
              </a:lnSpc>
              <a:spcBef>
                <a:spcPts val="1000"/>
              </a:spcBef>
              <a:spcAft>
                <a:spcPts val="0"/>
              </a:spcAft>
              <a:buClr>
                <a:schemeClr val="dk1"/>
              </a:buClr>
              <a:buSzPts val="3600"/>
              <a:buNone/>
            </a:pPr>
            <a:endParaRPr b="1" dirty="0">
              <a:latin typeface="Arial Narrow"/>
              <a:ea typeface="Arial Narrow"/>
              <a:cs typeface="Arial Narrow"/>
              <a:sym typeface="Arial Narrow"/>
            </a:endParaRPr>
          </a:p>
        </p:txBody>
      </p:sp>
      <p:sp>
        <p:nvSpPr>
          <p:cNvPr id="97" name="Google Shape;97;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latin typeface="Times New Roman"/>
                <a:ea typeface="Times New Roman"/>
                <a:cs typeface="Times New Roman"/>
                <a:sym typeface="Times New Roman"/>
              </a:rPr>
              <a:t>2</a:t>
            </a:fld>
            <a:endParaRPr b="1">
              <a:solidFill>
                <a:schemeClr val="dk1"/>
              </a:solidFill>
              <a:latin typeface="Times New Roman"/>
              <a:ea typeface="Times New Roman"/>
              <a:cs typeface="Times New Roman"/>
              <a:sym typeface="Times New Roman"/>
            </a:endParaRPr>
          </a:p>
        </p:txBody>
      </p:sp>
      <p:sp>
        <p:nvSpPr>
          <p:cNvPr id="98" name="Google Shape;98;p2"/>
          <p:cNvSpPr txBox="1">
            <a:spLocks noGrp="1"/>
          </p:cNvSpPr>
          <p:nvPr>
            <p:ph type="body" idx="1"/>
          </p:nvPr>
        </p:nvSpPr>
        <p:spPr>
          <a:xfrm>
            <a:off x="133672" y="3348608"/>
            <a:ext cx="6642402" cy="27249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Clr>
                <a:schemeClr val="dk1"/>
              </a:buClr>
              <a:buSzPts val="2400"/>
              <a:buNone/>
            </a:pPr>
            <a:r>
              <a:rPr lang="en-US" sz="2400" b="1" dirty="0">
                <a:latin typeface="Arial Narrow" panose="020B0606020202030204" pitchFamily="34" charset="0"/>
                <a:ea typeface="Times New Roman"/>
                <a:cs typeface="Times New Roman"/>
                <a:sym typeface="Times New Roman"/>
              </a:rPr>
              <a:t>Guide Name:</a:t>
            </a:r>
          </a:p>
          <a:p>
            <a:pPr marL="0" lvl="0" indent="0">
              <a:buSzPts val="2400"/>
              <a:buNone/>
            </a:pPr>
            <a:r>
              <a:rPr lang="en-IN" sz="2400" b="1" dirty="0">
                <a:latin typeface="+mn-lt"/>
              </a:rPr>
              <a:t>MS.V.SOWMIYA M.E,</a:t>
            </a:r>
            <a:endParaRPr sz="2400" b="1" dirty="0">
              <a:latin typeface="+mn-lt"/>
              <a:ea typeface="Times New Roman"/>
              <a:cs typeface="Times New Roman"/>
              <a:sym typeface="Times New Roman"/>
            </a:endParaRPr>
          </a:p>
        </p:txBody>
      </p:sp>
      <p:sp>
        <p:nvSpPr>
          <p:cNvPr id="99" name="Google Shape;99;p2"/>
          <p:cNvSpPr txBox="1">
            <a:spLocks noGrp="1"/>
          </p:cNvSpPr>
          <p:nvPr>
            <p:ph type="body" idx="1"/>
          </p:nvPr>
        </p:nvSpPr>
        <p:spPr>
          <a:xfrm>
            <a:off x="6776074" y="3346150"/>
            <a:ext cx="5282254" cy="27249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Clr>
                <a:schemeClr val="dk1"/>
              </a:buClr>
              <a:buSzPts val="2400"/>
              <a:buNone/>
            </a:pPr>
            <a:r>
              <a:rPr lang="en-US" sz="2400" b="1" dirty="0">
                <a:latin typeface="Arial Narrow" panose="020B0606020202030204" pitchFamily="34" charset="0"/>
                <a:ea typeface="Times New Roman"/>
                <a:cs typeface="Times New Roman"/>
                <a:sym typeface="Times New Roman"/>
              </a:rPr>
              <a:t>  Team Members:</a:t>
            </a:r>
          </a:p>
          <a:p>
            <a:pPr marL="114300" indent="0">
              <a:buNone/>
            </a:pPr>
            <a:r>
              <a:rPr lang="en-IN" sz="2000" b="1" dirty="0">
                <a:latin typeface="+mn-lt"/>
              </a:rPr>
              <a:t>1. ROHINI D (2303811710422131)</a:t>
            </a:r>
          </a:p>
          <a:p>
            <a:pPr marL="114300" indent="0">
              <a:buNone/>
            </a:pPr>
            <a:r>
              <a:rPr lang="en-IN" sz="2000" b="1" dirty="0">
                <a:latin typeface="+mn-lt"/>
              </a:rPr>
              <a:t>2. SHEEBA S  (2303811710422145)</a:t>
            </a:r>
          </a:p>
          <a:p>
            <a:pPr marL="114300" indent="0">
              <a:buNone/>
            </a:pPr>
            <a:r>
              <a:rPr lang="en-IN" sz="2000" b="1" dirty="0">
                <a:latin typeface="+mn-lt"/>
              </a:rPr>
              <a:t>3. SINDHUJA S (2303811710422150)</a:t>
            </a:r>
          </a:p>
          <a:p>
            <a:pPr marL="114300" indent="0">
              <a:buNone/>
            </a:pPr>
            <a:r>
              <a:rPr lang="en-IN" sz="2000" b="1" dirty="0">
                <a:latin typeface="+mn-lt"/>
              </a:rPr>
              <a:t>4. SRINITHI D  (2303811710422156)</a:t>
            </a:r>
          </a:p>
          <a:p>
            <a:pPr marL="0" lvl="0" indent="0" algn="l" rtl="0">
              <a:lnSpc>
                <a:spcPct val="90000"/>
              </a:lnSpc>
              <a:spcBef>
                <a:spcPts val="1000"/>
              </a:spcBef>
              <a:spcAft>
                <a:spcPts val="0"/>
              </a:spcAft>
              <a:buClr>
                <a:schemeClr val="dk1"/>
              </a:buClr>
              <a:buSzPts val="2400"/>
              <a:buNone/>
            </a:pPr>
            <a:endParaRPr b="1" dirty="0">
              <a:latin typeface="Arial Narrow" panose="020B0606020202030204" pitchFamily="34" charset="0"/>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a:spLocks noGrp="1"/>
          </p:cNvSpPr>
          <p:nvPr>
            <p:ph type="title"/>
          </p:nvPr>
        </p:nvSpPr>
        <p:spPr>
          <a:xfrm>
            <a:off x="838200" y="324465"/>
            <a:ext cx="10515600" cy="9495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b="1" dirty="0">
                <a:latin typeface="Arial Narrow"/>
                <a:ea typeface="Arial Narrow"/>
                <a:cs typeface="Arial Narrow"/>
                <a:sym typeface="Arial Narrow"/>
              </a:rPr>
              <a:t>OBJECTIVE OF THE PROJECT</a:t>
            </a:r>
            <a:endParaRPr dirty="0">
              <a:latin typeface="Arial Narrow"/>
              <a:ea typeface="Arial Narrow"/>
              <a:cs typeface="Arial Narrow"/>
              <a:sym typeface="Arial Narrow"/>
            </a:endParaRPr>
          </a:p>
        </p:txBody>
      </p:sp>
      <p:sp>
        <p:nvSpPr>
          <p:cNvPr id="105" name="Google Shape;105;p3"/>
          <p:cNvSpPr txBox="1">
            <a:spLocks noGrp="1"/>
          </p:cNvSpPr>
          <p:nvPr>
            <p:ph type="body" idx="1"/>
          </p:nvPr>
        </p:nvSpPr>
        <p:spPr>
          <a:xfrm>
            <a:off x="838200" y="2190750"/>
            <a:ext cx="10515600" cy="3031510"/>
          </a:xfrm>
          <a:prstGeom prst="rect">
            <a:avLst/>
          </a:prstGeom>
          <a:noFill/>
          <a:ln>
            <a:noFill/>
          </a:ln>
        </p:spPr>
        <p:txBody>
          <a:bodyPr spcFirstLastPara="1" wrap="square" lIns="91425" tIns="45700" rIns="91425" bIns="45700" anchor="t" anchorCtr="0">
            <a:normAutofit/>
          </a:bodyPr>
          <a:lstStyle/>
          <a:p>
            <a:pPr marL="0" indent="0" algn="just">
              <a:spcBef>
                <a:spcPts val="0"/>
              </a:spcBef>
              <a:buClr>
                <a:srgbClr val="FF0000"/>
              </a:buClr>
              <a:buSzPts val="2800"/>
              <a:buNone/>
            </a:pPr>
            <a:r>
              <a:rPr lang="en-US" dirty="0"/>
              <a:t> </a:t>
            </a:r>
            <a:endParaRPr lang="en-US" dirty="0">
              <a:latin typeface="Arial Narrow"/>
              <a:ea typeface="Arial Narrow"/>
              <a:cs typeface="Arial Narrow"/>
              <a:sym typeface="Arial Narrow"/>
            </a:endParaRPr>
          </a:p>
        </p:txBody>
      </p:sp>
      <p:sp>
        <p:nvSpPr>
          <p:cNvPr id="106" name="Google Shape;10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3</a:t>
            </a:fld>
            <a:endParaRPr b="1">
              <a:solidFill>
                <a:schemeClr val="dk1"/>
              </a:solidFill>
            </a:endParaRPr>
          </a:p>
        </p:txBody>
      </p:sp>
      <p:sp>
        <p:nvSpPr>
          <p:cNvPr id="2" name="Rectangle 1">
            <a:extLst>
              <a:ext uri="{FF2B5EF4-FFF2-40B4-BE49-F238E27FC236}">
                <a16:creationId xmlns:a16="http://schemas.microsoft.com/office/drawing/2014/main" id="{F54B222D-B5F1-7EA8-1B17-75A5E9C2B689}"/>
              </a:ext>
            </a:extLst>
          </p:cNvPr>
          <p:cNvSpPr>
            <a:spLocks noChangeArrowheads="1"/>
          </p:cNvSpPr>
          <p:nvPr/>
        </p:nvSpPr>
        <p:spPr bwMode="auto">
          <a:xfrm>
            <a:off x="963561" y="1690517"/>
            <a:ext cx="10264877" cy="28477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indent="-457200" algn="just">
              <a:lnSpc>
                <a:spcPct val="150000"/>
              </a:lnSpc>
              <a:buFont typeface="+mj-lt"/>
              <a:buAutoNum type="arabicPeriod"/>
            </a:pPr>
            <a:r>
              <a:rPr lang="en-US" sz="2200" dirty="0">
                <a:solidFill>
                  <a:schemeClr val="tx1"/>
                </a:solidFill>
                <a:latin typeface="Times New Roman" pitchFamily="18" charset="0"/>
                <a:cs typeface="Times New Roman" pitchFamily="18" charset="0"/>
              </a:rPr>
              <a:t>To enhance the security of the e-commerce admin panel by implementing a decoy login protection mechanism </a:t>
            </a:r>
          </a:p>
          <a:p>
            <a:pPr marL="457200" indent="-457200" algn="just">
              <a:lnSpc>
                <a:spcPct val="150000"/>
              </a:lnSpc>
              <a:buFont typeface="+mj-lt"/>
              <a:buAutoNum type="arabicPeriod"/>
            </a:pPr>
            <a:endParaRPr lang="en-US" sz="2200" dirty="0">
              <a:solidFill>
                <a:schemeClr val="tx1"/>
              </a:solidFill>
              <a:latin typeface="Times New Roman" pitchFamily="18" charset="0"/>
              <a:cs typeface="Times New Roman" pitchFamily="18" charset="0"/>
            </a:endParaRPr>
          </a:p>
          <a:p>
            <a:pPr marL="457200" lvl="0" indent="-457200" algn="just" eaLnBrk="0" fontAlgn="base" hangingPunct="0">
              <a:lnSpc>
                <a:spcPct val="150000"/>
              </a:lnSpc>
              <a:spcBef>
                <a:spcPct val="0"/>
              </a:spcBef>
              <a:spcAft>
                <a:spcPct val="0"/>
              </a:spcAft>
              <a:buClrTx/>
              <a:buFont typeface="+mj-lt"/>
              <a:buAutoNum type="arabicPeriod"/>
            </a:pPr>
            <a:r>
              <a:rPr lang="en-US" sz="2200" dirty="0">
                <a:solidFill>
                  <a:schemeClr val="tx1"/>
                </a:solidFill>
                <a:latin typeface="Times New Roman" pitchFamily="18" charset="0"/>
                <a:cs typeface="Times New Roman" pitchFamily="18" charset="0"/>
              </a:rPr>
              <a:t>To detect unauthorized login attempts, mislead attackers into a fake admin dashboard, and protect the real database .</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4"/>
          <p:cNvSpPr txBox="1">
            <a:spLocks noGrp="1"/>
          </p:cNvSpPr>
          <p:nvPr>
            <p:ph type="title"/>
          </p:nvPr>
        </p:nvSpPr>
        <p:spPr>
          <a:xfrm>
            <a:off x="0" y="363793"/>
            <a:ext cx="12192000" cy="8100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b="1" dirty="0">
                <a:latin typeface="Arial Narrow"/>
                <a:ea typeface="Arial Narrow"/>
                <a:cs typeface="Arial Narrow"/>
                <a:sym typeface="Arial Narrow"/>
              </a:rPr>
              <a:t>INTRODUCTION</a:t>
            </a:r>
            <a:endParaRPr dirty="0">
              <a:latin typeface="Arial Narrow"/>
              <a:ea typeface="Arial Narrow"/>
              <a:cs typeface="Arial Narrow"/>
              <a:sym typeface="Arial Narrow"/>
            </a:endParaRPr>
          </a:p>
        </p:txBody>
      </p:sp>
      <p:sp>
        <p:nvSpPr>
          <p:cNvPr id="112" name="Google Shape;112;p4"/>
          <p:cNvSpPr txBox="1">
            <a:spLocks noGrp="1"/>
          </p:cNvSpPr>
          <p:nvPr>
            <p:ph type="body" idx="1"/>
          </p:nvPr>
        </p:nvSpPr>
        <p:spPr>
          <a:xfrm>
            <a:off x="1300316" y="1510743"/>
            <a:ext cx="10515600" cy="4351338"/>
          </a:xfrm>
          <a:prstGeom prst="rect">
            <a:avLst/>
          </a:prstGeom>
          <a:noFill/>
          <a:ln>
            <a:noFill/>
          </a:ln>
        </p:spPr>
        <p:txBody>
          <a:bodyPr spcFirstLastPara="1" wrap="square" lIns="91425" tIns="45700" rIns="91425" bIns="45700" anchor="t" anchorCtr="0">
            <a:normAutofit/>
          </a:bodyPr>
          <a:lstStyle/>
          <a:p>
            <a:pPr marL="571500" indent="-457200" algn="just">
              <a:lnSpc>
                <a:spcPct val="150000"/>
              </a:lnSpc>
              <a:buFont typeface="+mj-lt"/>
              <a:buAutoNum type="arabicPeriod"/>
            </a:pPr>
            <a:r>
              <a:rPr lang="en-US" sz="2200" dirty="0" err="1">
                <a:latin typeface="Times New Roman" panose="02020603050405020304" pitchFamily="18" charset="0"/>
                <a:cs typeface="Times New Roman" panose="02020603050405020304" pitchFamily="18" charset="0"/>
              </a:rPr>
              <a:t>ShopNova</a:t>
            </a:r>
            <a:r>
              <a:rPr lang="en-US" sz="2200" dirty="0">
                <a:latin typeface="Times New Roman" panose="02020603050405020304" pitchFamily="18" charset="0"/>
                <a:cs typeface="Times New Roman" panose="02020603050405020304" pitchFamily="18" charset="0"/>
              </a:rPr>
              <a:t> Admin Panel is a secure e-commerce admin system with OTP-based authentication, brute-force protection, and a decoy dashboard to detect intrusions. </a:t>
            </a:r>
          </a:p>
          <a:p>
            <a:pPr marL="571500" indent="-457200" algn="just">
              <a:lnSpc>
                <a:spcPct val="150000"/>
              </a:lnSpc>
              <a:buFont typeface="+mj-lt"/>
              <a:buAutoNum type="arabicPeriod"/>
            </a:pPr>
            <a:r>
              <a:rPr lang="en-US" sz="2200" dirty="0">
                <a:latin typeface="Times New Roman" panose="02020603050405020304" pitchFamily="18" charset="0"/>
                <a:cs typeface="Times New Roman" panose="02020603050405020304" pitchFamily="18" charset="0"/>
              </a:rPr>
              <a:t>It demonstrates modern security techniques like multi-factor authentication and honeypots to safeguard sensitive business data.</a:t>
            </a:r>
            <a:endParaRPr lang="ta-IN" sz="2200" dirty="0">
              <a:latin typeface="Times New Roman" panose="02020603050405020304" pitchFamily="18" charset="0"/>
            </a:endParaRPr>
          </a:p>
          <a:p>
            <a:pPr marL="0" lvl="0" indent="0" algn="l" rtl="0">
              <a:lnSpc>
                <a:spcPct val="90000"/>
              </a:lnSpc>
              <a:spcBef>
                <a:spcPts val="1000"/>
              </a:spcBef>
              <a:spcAft>
                <a:spcPts val="0"/>
              </a:spcAft>
              <a:buClr>
                <a:schemeClr val="dk1"/>
              </a:buClr>
              <a:buSzPts val="2800"/>
              <a:buNone/>
            </a:pPr>
            <a:endParaRPr dirty="0">
              <a:latin typeface="Arial Narrow" panose="020B0606020202030204" pitchFamily="34" charset="0"/>
            </a:endParaRPr>
          </a:p>
        </p:txBody>
      </p:sp>
      <p:sp>
        <p:nvSpPr>
          <p:cNvPr id="113" name="Google Shape;113;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4</a:t>
            </a:fld>
            <a:endParaRPr b="1">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5"/>
          <p:cNvSpPr/>
          <p:nvPr/>
        </p:nvSpPr>
        <p:spPr>
          <a:xfrm>
            <a:off x="8753993" y="6242050"/>
            <a:ext cx="27432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1200" b="0" i="0" u="none" strike="noStrike" cap="none">
              <a:solidFill>
                <a:srgbClr val="888888"/>
              </a:solidFill>
              <a:latin typeface="Calibri"/>
              <a:ea typeface="Calibri"/>
              <a:cs typeface="Calibri"/>
              <a:sym typeface="Calibri"/>
            </a:endParaRPr>
          </a:p>
        </p:txBody>
      </p:sp>
      <p:sp>
        <p:nvSpPr>
          <p:cNvPr id="119" name="Google Shape;11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5</a:t>
            </a:fld>
            <a:endParaRPr b="1">
              <a:solidFill>
                <a:schemeClr val="dk1"/>
              </a:solidFill>
            </a:endParaRPr>
          </a:p>
        </p:txBody>
      </p:sp>
      <p:sp>
        <p:nvSpPr>
          <p:cNvPr id="120" name="Google Shape;120;p5"/>
          <p:cNvSpPr/>
          <p:nvPr/>
        </p:nvSpPr>
        <p:spPr>
          <a:xfrm>
            <a:off x="68855" y="0"/>
            <a:ext cx="12054300" cy="708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b="1" dirty="0">
                <a:solidFill>
                  <a:schemeClr val="dk1"/>
                </a:solidFill>
                <a:latin typeface="Arial Narrow"/>
                <a:ea typeface="Arial Narrow"/>
                <a:cs typeface="Arial Narrow"/>
                <a:sym typeface="Arial Narrow"/>
              </a:rPr>
              <a:t>LITERATURE SURVEY</a:t>
            </a:r>
            <a:endParaRPr dirty="0">
              <a:latin typeface="Arial Narrow"/>
              <a:ea typeface="Arial Narrow"/>
              <a:cs typeface="Arial Narrow"/>
              <a:sym typeface="Arial Narrow"/>
            </a:endParaRPr>
          </a:p>
        </p:txBody>
      </p:sp>
      <p:graphicFrame>
        <p:nvGraphicFramePr>
          <p:cNvPr id="121" name="Google Shape;121;p5"/>
          <p:cNvGraphicFramePr/>
          <p:nvPr>
            <p:extLst>
              <p:ext uri="{D42A27DB-BD31-4B8C-83A1-F6EECF244321}">
                <p14:modId xmlns:p14="http://schemas.microsoft.com/office/powerpoint/2010/main" val="1176664314"/>
              </p:ext>
            </p:extLst>
          </p:nvPr>
        </p:nvGraphicFramePr>
        <p:xfrm>
          <a:off x="189165" y="822299"/>
          <a:ext cx="11813669" cy="5065153"/>
        </p:xfrm>
        <a:graphic>
          <a:graphicData uri="http://schemas.openxmlformats.org/drawingml/2006/table">
            <a:tbl>
              <a:tblPr firstRow="1" bandRow="1">
                <a:tableStyleId>{3CDD818E-ADFA-4579-856F-A3140DA02BD1}</a:tableStyleId>
              </a:tblPr>
              <a:tblGrid>
                <a:gridCol w="2924835">
                  <a:extLst>
                    <a:ext uri="{9D8B030D-6E8A-4147-A177-3AD203B41FA5}">
                      <a16:colId xmlns:a16="http://schemas.microsoft.com/office/drawing/2014/main" val="20000"/>
                    </a:ext>
                  </a:extLst>
                </a:gridCol>
                <a:gridCol w="2941649">
                  <a:extLst>
                    <a:ext uri="{9D8B030D-6E8A-4147-A177-3AD203B41FA5}">
                      <a16:colId xmlns:a16="http://schemas.microsoft.com/office/drawing/2014/main" val="20001"/>
                    </a:ext>
                  </a:extLst>
                </a:gridCol>
                <a:gridCol w="2955658">
                  <a:extLst>
                    <a:ext uri="{9D8B030D-6E8A-4147-A177-3AD203B41FA5}">
                      <a16:colId xmlns:a16="http://schemas.microsoft.com/office/drawing/2014/main" val="20002"/>
                    </a:ext>
                  </a:extLst>
                </a:gridCol>
                <a:gridCol w="2991527">
                  <a:extLst>
                    <a:ext uri="{9D8B030D-6E8A-4147-A177-3AD203B41FA5}">
                      <a16:colId xmlns:a16="http://schemas.microsoft.com/office/drawing/2014/main" val="20003"/>
                    </a:ext>
                  </a:extLst>
                </a:gridCol>
              </a:tblGrid>
              <a:tr h="621254">
                <a:tc>
                  <a:txBody>
                    <a:bodyPr/>
                    <a:lstStyle/>
                    <a:p>
                      <a:pPr marL="0" marR="0" lvl="0" indent="0" algn="ctr" rtl="0">
                        <a:spcBef>
                          <a:spcPts val="0"/>
                        </a:spcBef>
                        <a:spcAft>
                          <a:spcPts val="0"/>
                        </a:spcAft>
                        <a:buNone/>
                      </a:pPr>
                      <a:r>
                        <a:rPr lang="en-US" sz="2400" u="none" strike="noStrike" cap="none" dirty="0">
                          <a:solidFill>
                            <a:schemeClr val="dk1"/>
                          </a:solidFill>
                          <a:sym typeface="Arial Narrow"/>
                        </a:rPr>
                        <a:t>TITLE OF PAPER</a:t>
                      </a:r>
                      <a:endParaRPr sz="2400" u="none" strike="noStrike" cap="none" dirty="0">
                        <a:solidFill>
                          <a:schemeClr val="dk1"/>
                        </a:solidFill>
                        <a:latin typeface="Arial Narrow"/>
                        <a:ea typeface="Arial Narrow"/>
                        <a:cs typeface="Arial Narrow"/>
                        <a:sym typeface="Arial Narrow"/>
                      </a:endParaRPr>
                    </a:p>
                  </a:txBody>
                  <a:tcPr marL="91450" marR="91450" marT="45725" marB="45725"/>
                </a:tc>
                <a:tc>
                  <a:txBody>
                    <a:bodyPr/>
                    <a:lstStyle/>
                    <a:p>
                      <a:pPr marL="0" marR="0" lvl="0" indent="0" algn="ctr" rtl="0">
                        <a:spcBef>
                          <a:spcPts val="0"/>
                        </a:spcBef>
                        <a:spcAft>
                          <a:spcPts val="0"/>
                        </a:spcAft>
                        <a:buNone/>
                      </a:pPr>
                      <a:r>
                        <a:rPr lang="en-US" sz="2400" dirty="0">
                          <a:solidFill>
                            <a:schemeClr val="dk1"/>
                          </a:solidFill>
                          <a:sym typeface="Arial Narrow"/>
                        </a:rPr>
                        <a:t>AUTHOR(S)</a:t>
                      </a:r>
                      <a:endParaRPr sz="2400" u="none" strike="noStrike" cap="none" dirty="0">
                        <a:solidFill>
                          <a:schemeClr val="dk1"/>
                        </a:solidFill>
                        <a:latin typeface="Arial Narrow"/>
                        <a:ea typeface="Arial Narrow"/>
                        <a:cs typeface="Arial Narrow"/>
                        <a:sym typeface="Arial Narrow"/>
                      </a:endParaRPr>
                    </a:p>
                  </a:txBody>
                  <a:tcPr marL="91450" marR="91450" marT="45725" marB="45725"/>
                </a:tc>
                <a:tc>
                  <a:txBody>
                    <a:bodyPr/>
                    <a:lstStyle/>
                    <a:p>
                      <a:pPr marL="0" marR="0" lvl="0" indent="0" algn="ctr" rtl="0">
                        <a:spcBef>
                          <a:spcPts val="0"/>
                        </a:spcBef>
                        <a:spcAft>
                          <a:spcPts val="0"/>
                        </a:spcAft>
                        <a:buNone/>
                      </a:pPr>
                      <a:r>
                        <a:rPr lang="en-US" sz="2400" u="none" strike="noStrike" cap="none" dirty="0">
                          <a:solidFill>
                            <a:schemeClr val="dk1"/>
                          </a:solidFill>
                          <a:sym typeface="Arial Narrow"/>
                        </a:rPr>
                        <a:t>PAPER GIST</a:t>
                      </a:r>
                      <a:endParaRPr sz="2400" u="none" strike="noStrike" cap="none" dirty="0">
                        <a:solidFill>
                          <a:schemeClr val="dk1"/>
                        </a:solidFill>
                        <a:latin typeface="Arial Narrow"/>
                        <a:ea typeface="Arial Narrow"/>
                        <a:cs typeface="Arial Narrow"/>
                        <a:sym typeface="Arial Narrow"/>
                      </a:endParaRPr>
                    </a:p>
                  </a:txBody>
                  <a:tcPr marL="91450" marR="91450" marT="45725" marB="45725"/>
                </a:tc>
                <a:tc>
                  <a:txBody>
                    <a:bodyPr/>
                    <a:lstStyle/>
                    <a:p>
                      <a:pPr marL="0" marR="0" lvl="0" indent="0" algn="ctr" rtl="0">
                        <a:spcBef>
                          <a:spcPts val="0"/>
                        </a:spcBef>
                        <a:spcAft>
                          <a:spcPts val="0"/>
                        </a:spcAft>
                        <a:buNone/>
                      </a:pPr>
                      <a:r>
                        <a:rPr lang="en-US" sz="2400" u="none" strike="noStrike" cap="none" dirty="0">
                          <a:solidFill>
                            <a:schemeClr val="dk1"/>
                          </a:solidFill>
                          <a:sym typeface="Arial Narrow"/>
                        </a:rPr>
                        <a:t>TECHNOLOGY USED</a:t>
                      </a:r>
                      <a:endParaRPr sz="2400" u="none" strike="noStrike" cap="none" dirty="0">
                        <a:solidFill>
                          <a:schemeClr val="dk1"/>
                        </a:solidFill>
                        <a:latin typeface="Arial Narrow"/>
                        <a:ea typeface="Arial Narrow"/>
                        <a:cs typeface="Arial Narrow"/>
                        <a:sym typeface="Arial Narrow"/>
                      </a:endParaRPr>
                    </a:p>
                  </a:txBody>
                  <a:tcPr marL="91450" marR="91450" marT="45725" marB="45725"/>
                </a:tc>
                <a:extLst>
                  <a:ext uri="{0D108BD9-81ED-4DB2-BD59-A6C34878D82A}">
                    <a16:rowId xmlns:a16="http://schemas.microsoft.com/office/drawing/2014/main" val="10000"/>
                  </a:ext>
                </a:extLst>
              </a:tr>
              <a:tr h="993985">
                <a:tc>
                  <a:txBody>
                    <a:bodyPr/>
                    <a:lstStyle/>
                    <a:p>
                      <a:pPr algn="ctr"/>
                      <a:r>
                        <a:rPr lang="en-US" sz="1400" dirty="0">
                          <a:latin typeface="Times New Roman" panose="02020603050405020304" pitchFamily="18" charset="0"/>
                          <a:cs typeface="Times New Roman" panose="02020603050405020304" pitchFamily="18" charset="0"/>
                        </a:rPr>
                        <a:t> E-Commerce Security Threats, Defenses Against Attacks and Improving Security </a:t>
                      </a:r>
                    </a:p>
                  </a:txBody>
                  <a:tcPr anchor="ctr"/>
                </a:tc>
                <a:tc>
                  <a:txBody>
                    <a:bodyPr/>
                    <a:lstStyle/>
                    <a:p>
                      <a:pPr algn="ctr">
                        <a:buNone/>
                      </a:pPr>
                      <a:r>
                        <a:rPr lang="en-US" sz="1400" dirty="0">
                          <a:latin typeface="Times New Roman" panose="02020603050405020304" pitchFamily="18" charset="0"/>
                          <a:cs typeface="Times New Roman" panose="02020603050405020304" pitchFamily="18" charset="0"/>
                        </a:rPr>
                        <a:t>H. B. Patel</a:t>
                      </a:r>
                      <a:endParaRPr lang="en-IN" dirty="0"/>
                    </a:p>
                  </a:txBody>
                  <a:tcPr anchor="ctr"/>
                </a:tc>
                <a:tc>
                  <a:txBody>
                    <a:bodyPr/>
                    <a:lstStyle/>
                    <a:p>
                      <a:pPr algn="ctr"/>
                      <a:r>
                        <a:rPr lang="en-US" sz="1400" dirty="0">
                          <a:latin typeface="Times New Roman" panose="02020603050405020304" pitchFamily="18" charset="0"/>
                          <a:cs typeface="Times New Roman" panose="02020603050405020304" pitchFamily="18" charset="0"/>
                        </a:rPr>
                        <a:t> Published in an Information Technology / Cyber Security related journal (2020)</a:t>
                      </a:r>
                    </a:p>
                  </a:txBody>
                  <a:tcPr anchor="ctr"/>
                </a:tc>
                <a:tc>
                  <a:txBody>
                    <a:bodyPr/>
                    <a:lstStyle/>
                    <a:p>
                      <a:pPr algn="ctr"/>
                      <a:r>
                        <a:rPr lang="en-US" sz="1400" dirty="0">
                          <a:latin typeface="Times New Roman" panose="02020603050405020304" pitchFamily="18" charset="0"/>
                          <a:cs typeface="Times New Roman" panose="02020603050405020304" pitchFamily="18" charset="0"/>
                        </a:rPr>
                        <a:t>SQL injection, SSL, firewalls, and intrusion detection systems</a:t>
                      </a:r>
                    </a:p>
                  </a:txBody>
                  <a:tcPr anchor="ctr"/>
                </a:tc>
                <a:extLst>
                  <a:ext uri="{0D108BD9-81ED-4DB2-BD59-A6C34878D82A}">
                    <a16:rowId xmlns:a16="http://schemas.microsoft.com/office/drawing/2014/main" val="10001"/>
                  </a:ext>
                </a:extLst>
              </a:tr>
              <a:tr h="730972">
                <a:tc>
                  <a:txBody>
                    <a:bodyPr/>
                    <a:lstStyle/>
                    <a:p>
                      <a:pPr algn="ctr"/>
                      <a:r>
                        <a:rPr lang="en-US" sz="1400" dirty="0">
                          <a:latin typeface="Times New Roman" panose="02020603050405020304" pitchFamily="18" charset="0"/>
                          <a:cs typeface="Times New Roman" panose="02020603050405020304" pitchFamily="18" charset="0"/>
                        </a:rPr>
                        <a:t> The Impact of Exposed Passwords on Honeyword Efficacy (2024)</a:t>
                      </a:r>
                    </a:p>
                  </a:txBody>
                  <a:tcPr anchor="ctr"/>
                </a:tc>
                <a:tc>
                  <a:txBody>
                    <a:bodyPr/>
                    <a:lstStyle/>
                    <a:p>
                      <a:pPr algn="ctr"/>
                      <a:r>
                        <a:rPr lang="en-US" sz="1400" dirty="0">
                          <a:latin typeface="Times New Roman" panose="02020603050405020304" pitchFamily="18" charset="0"/>
                          <a:cs typeface="Times New Roman" panose="02020603050405020304" pitchFamily="18" charset="0"/>
                        </a:rPr>
                        <a:t>Z. Huang</a:t>
                      </a:r>
                    </a:p>
                  </a:txBody>
                  <a:tcPr anchor="ctr"/>
                </a:tc>
                <a:tc>
                  <a:txBody>
                    <a:bodyPr/>
                    <a:lstStyle/>
                    <a:p>
                      <a:pPr algn="ctr"/>
                      <a:r>
                        <a:rPr lang="en-US" sz="1400" dirty="0">
                          <a:latin typeface="Times New Roman" panose="02020603050405020304" pitchFamily="18" charset="0"/>
                          <a:cs typeface="Times New Roman" panose="02020603050405020304" pitchFamily="18" charset="0"/>
                        </a:rPr>
                        <a:t>Published in a Cybersecurity / Information Security journal (2024)</a:t>
                      </a:r>
                    </a:p>
                  </a:txBody>
                  <a:tcPr anchor="ctr"/>
                </a:tc>
                <a:tc>
                  <a:txBody>
                    <a:bodyPr/>
                    <a:lstStyle/>
                    <a:p>
                      <a:pPr algn="ctr">
                        <a:buNone/>
                      </a:pPr>
                      <a:r>
                        <a:rPr lang="en-IN" dirty="0"/>
                        <a:t>Web Technology, Database Systems</a:t>
                      </a:r>
                    </a:p>
                  </a:txBody>
                  <a:tcPr anchor="ctr"/>
                </a:tc>
                <a:extLst>
                  <a:ext uri="{0D108BD9-81ED-4DB2-BD59-A6C34878D82A}">
                    <a16:rowId xmlns:a16="http://schemas.microsoft.com/office/drawing/2014/main" val="10002"/>
                  </a:ext>
                </a:extLst>
              </a:tr>
              <a:tr h="993985">
                <a:tc>
                  <a:txBody>
                    <a:bodyPr/>
                    <a:lstStyle/>
                    <a:p>
                      <a:pPr algn="ctr">
                        <a:buNone/>
                      </a:pPr>
                      <a:r>
                        <a:rPr lang="en-US" sz="1400" dirty="0">
                          <a:latin typeface="Times New Roman" panose="02020603050405020304" pitchFamily="18" charset="0"/>
                          <a:cs typeface="Times New Roman" panose="02020603050405020304" pitchFamily="18" charset="0"/>
                        </a:rPr>
                        <a:t>Container-Based Comprehensive Cyber Deception Honeynet Architecture (2024)</a:t>
                      </a:r>
                      <a:endParaRPr lang="en-IN" dirty="0"/>
                    </a:p>
                  </a:txBody>
                  <a:tcPr anchor="ctr"/>
                </a:tc>
                <a:tc>
                  <a:txBody>
                    <a:bodyPr/>
                    <a:lstStyle/>
                    <a:p>
                      <a:pPr algn="ctr"/>
                      <a:r>
                        <a:rPr lang="en-US" sz="1400" dirty="0">
                          <a:latin typeface="Times New Roman" panose="02020603050405020304" pitchFamily="18" charset="0"/>
                          <a:cs typeface="Times New Roman" panose="02020603050405020304" pitchFamily="18" charset="0"/>
                        </a:rPr>
                        <a:t>Tianxiang Yu, Yang Xin, Chunyong Zhang</a:t>
                      </a:r>
                    </a:p>
                  </a:txBody>
                  <a:tcPr anchor="ctr"/>
                </a:tc>
                <a:tc>
                  <a:txBody>
                    <a:bodyPr/>
                    <a:lstStyle/>
                    <a:p>
                      <a:pPr algn="ctr"/>
                      <a:r>
                        <a:rPr lang="en-US" sz="1400" dirty="0">
                          <a:latin typeface="Times New Roman" panose="02020603050405020304" pitchFamily="18" charset="0"/>
                          <a:cs typeface="Times New Roman" panose="02020603050405020304" pitchFamily="18" charset="0"/>
                        </a:rPr>
                        <a:t>Electronics (2024)</a:t>
                      </a:r>
                    </a:p>
                  </a:txBody>
                  <a:tcPr anchor="ctr"/>
                </a:tc>
                <a:tc>
                  <a:txBody>
                    <a:bodyPr/>
                    <a:lstStyle/>
                    <a:p>
                      <a:pPr algn="ctr">
                        <a:buNone/>
                      </a:pPr>
                      <a:r>
                        <a:rPr lang="en-US" dirty="0"/>
                        <a:t>Web Technology (HTML, CSS, JS)</a:t>
                      </a:r>
                    </a:p>
                  </a:txBody>
                  <a:tcPr anchor="ctr"/>
                </a:tc>
                <a:extLst>
                  <a:ext uri="{0D108BD9-81ED-4DB2-BD59-A6C34878D82A}">
                    <a16:rowId xmlns:a16="http://schemas.microsoft.com/office/drawing/2014/main" val="10003"/>
                  </a:ext>
                </a:extLst>
              </a:tr>
              <a:tr h="730972">
                <a:tc>
                  <a:txBody>
                    <a:bodyPr/>
                    <a:lstStyle/>
                    <a:p>
                      <a:pPr algn="ctr">
                        <a:buNone/>
                      </a:pPr>
                      <a:r>
                        <a:rPr lang="en-US" sz="1400" dirty="0">
                          <a:latin typeface="Times New Roman" panose="02020603050405020304" pitchFamily="18" charset="0"/>
                          <a:cs typeface="Times New Roman" panose="02020603050405020304" pitchFamily="18" charset="0"/>
                        </a:rPr>
                        <a:t>Advancing Cybersecurity with Honeypots and Deception Strategies </a:t>
                      </a:r>
                      <a:endParaRPr lang="en-US" dirty="0"/>
                    </a:p>
                  </a:txBody>
                  <a:tcPr anchor="ctr"/>
                </a:tc>
                <a:tc>
                  <a:txBody>
                    <a:bodyPr/>
                    <a:lstStyle/>
                    <a:p>
                      <a:pPr algn="ctr"/>
                      <a:r>
                        <a:rPr lang="en-US" sz="1400" dirty="0">
                          <a:latin typeface="Times New Roman" panose="02020603050405020304" pitchFamily="18" charset="0"/>
                          <a:cs typeface="Times New Roman" panose="02020603050405020304" pitchFamily="18" charset="0"/>
                        </a:rPr>
                        <a:t>Zlatan Morić, Vedran </a:t>
                      </a:r>
                      <a:r>
                        <a:rPr lang="en-US" sz="1400" dirty="0" err="1">
                          <a:latin typeface="Times New Roman" panose="02020603050405020304" pitchFamily="18" charset="0"/>
                          <a:cs typeface="Times New Roman" panose="02020603050405020304" pitchFamily="18" charset="0"/>
                        </a:rPr>
                        <a:t>Dakić</a:t>
                      </a:r>
                      <a:r>
                        <a:rPr lang="en-US" sz="1400" dirty="0">
                          <a:latin typeface="Times New Roman" panose="02020603050405020304" pitchFamily="18" charset="0"/>
                          <a:cs typeface="Times New Roman" panose="02020603050405020304" pitchFamily="18" charset="0"/>
                        </a:rPr>
                        <a:t>, Damir Regvart</a:t>
                      </a:r>
                    </a:p>
                  </a:txBody>
                  <a:tcPr anchor="ctr"/>
                </a:tc>
                <a:tc>
                  <a:txBody>
                    <a:bodyPr/>
                    <a:lstStyle/>
                    <a:p>
                      <a:pPr algn="ctr"/>
                      <a:r>
                        <a:rPr lang="en-US" sz="1400" dirty="0">
                          <a:latin typeface="Times New Roman" panose="02020603050405020304" pitchFamily="18" charset="0"/>
                          <a:cs typeface="Times New Roman" panose="02020603050405020304" pitchFamily="18" charset="0"/>
                        </a:rPr>
                        <a:t> Informatics (2025)</a:t>
                      </a:r>
                    </a:p>
                  </a:txBody>
                  <a:tcPr anchor="ctr"/>
                </a:tc>
                <a:tc>
                  <a:txBody>
                    <a:bodyPr/>
                    <a:lstStyle/>
                    <a:p>
                      <a:pPr algn="ctr">
                        <a:buNone/>
                      </a:pPr>
                      <a:r>
                        <a:rPr lang="en-IN" dirty="0"/>
                        <a:t>IoT Sensors, Embedded Systems</a:t>
                      </a:r>
                    </a:p>
                  </a:txBody>
                  <a:tcPr anchor="ctr"/>
                </a:tc>
                <a:extLst>
                  <a:ext uri="{0D108BD9-81ED-4DB2-BD59-A6C34878D82A}">
                    <a16:rowId xmlns:a16="http://schemas.microsoft.com/office/drawing/2014/main" val="10004"/>
                  </a:ext>
                </a:extLst>
              </a:tr>
              <a:tr h="993985">
                <a:tc>
                  <a:txBody>
                    <a:bodyPr/>
                    <a:lstStyle/>
                    <a:p>
                      <a:pPr algn="ctr">
                        <a:buNone/>
                      </a:pPr>
                      <a:r>
                        <a:rPr lang="en-US" sz="1400" dirty="0">
                          <a:latin typeface="Times New Roman" panose="02020603050405020304" pitchFamily="18" charset="0"/>
                          <a:cs typeface="Times New Roman" panose="02020603050405020304" pitchFamily="18" charset="0"/>
                        </a:rPr>
                        <a:t>Countering AI-Driven Adversaries Using Adaptive Deception Framework </a:t>
                      </a:r>
                      <a:endParaRPr lang="en-IN" dirty="0"/>
                    </a:p>
                  </a:txBody>
                  <a:tcPr anchor="ctr"/>
                </a:tc>
                <a:tc>
                  <a:txBody>
                    <a:bodyPr/>
                    <a:lstStyle/>
                    <a:p>
                      <a:pPr algn="ctr"/>
                      <a:r>
                        <a:rPr lang="en-US" sz="1400" dirty="0">
                          <a:latin typeface="Times New Roman" panose="02020603050405020304" pitchFamily="18" charset="0"/>
                          <a:cs typeface="Times New Roman" panose="02020603050405020304" pitchFamily="18" charset="0"/>
                        </a:rPr>
                        <a:t>S. S. Abdulsattar</a:t>
                      </a:r>
                    </a:p>
                  </a:txBody>
                  <a:tcPr anchor="ctr"/>
                </a:tc>
                <a:tc>
                  <a:txBody>
                    <a:bodyPr/>
                    <a:lstStyle/>
                    <a:p>
                      <a:pPr algn="ctr">
                        <a:buNone/>
                      </a:pPr>
                      <a:r>
                        <a:rPr lang="en-US" sz="1400" dirty="0">
                          <a:latin typeface="Times New Roman" panose="02020603050405020304" pitchFamily="18" charset="0"/>
                          <a:cs typeface="Times New Roman" panose="02020603050405020304" pitchFamily="18" charset="0"/>
                        </a:rPr>
                        <a:t> Published in a Cybersecurity / Artificial Intelligence security journal (2025</a:t>
                      </a:r>
                      <a:endParaRPr lang="en-US" dirty="0"/>
                    </a:p>
                  </a:txBody>
                  <a:tcPr anchor="ctr"/>
                </a:tc>
                <a:tc>
                  <a:txBody>
                    <a:bodyPr/>
                    <a:lstStyle/>
                    <a:p>
                      <a:pPr algn="ctr">
                        <a:buNone/>
                      </a:pPr>
                      <a:r>
                        <a:rPr lang="en-IN" dirty="0"/>
                        <a:t>Artificial Intelligence, Machine Learning</a:t>
                      </a:r>
                    </a:p>
                  </a:txBody>
                  <a:tcPr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6</a:t>
            </a:fld>
            <a:endParaRPr b="1">
              <a:solidFill>
                <a:schemeClr val="dk1"/>
              </a:solidFill>
            </a:endParaRPr>
          </a:p>
        </p:txBody>
      </p:sp>
      <p:sp>
        <p:nvSpPr>
          <p:cNvPr id="127" name="Google Shape;127;p6"/>
          <p:cNvSpPr txBox="1"/>
          <p:nvPr/>
        </p:nvSpPr>
        <p:spPr>
          <a:xfrm>
            <a:off x="-1" y="0"/>
            <a:ext cx="12345600" cy="707846"/>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algn="ctr">
              <a:defRPr sz="4000" b="1">
                <a:solidFill>
                  <a:schemeClr val="dk1"/>
                </a:solidFill>
                <a:latin typeface="Arial Narrow"/>
                <a:ea typeface="Arial Narrow"/>
                <a:cs typeface="Arial Narrow"/>
              </a:defRPr>
            </a:lvl1pPr>
          </a:lstStyle>
          <a:p>
            <a:r>
              <a:rPr lang="en-US" dirty="0">
                <a:sym typeface="Arial Narrow"/>
              </a:rPr>
              <a:t>EXISTING SYSTEM </a:t>
            </a:r>
            <a:r>
              <a:rPr lang="en-US" dirty="0"/>
              <a:t>ARCHITECTURE</a:t>
            </a:r>
            <a:endParaRPr dirty="0">
              <a:sym typeface="Arial Narrow"/>
            </a:endParaRPr>
          </a:p>
        </p:txBody>
      </p:sp>
      <p:pic>
        <p:nvPicPr>
          <p:cNvPr id="2" name="Picture 1">
            <a:extLst>
              <a:ext uri="{FF2B5EF4-FFF2-40B4-BE49-F238E27FC236}">
                <a16:creationId xmlns:a16="http://schemas.microsoft.com/office/drawing/2014/main" id="{6D723EFF-FDB0-84EE-B738-98A276023927}"/>
              </a:ext>
            </a:extLst>
          </p:cNvPr>
          <p:cNvPicPr>
            <a:picLocks noChangeAspect="1"/>
          </p:cNvPicPr>
          <p:nvPr/>
        </p:nvPicPr>
        <p:blipFill>
          <a:blip r:embed="rId3"/>
          <a:srcRect t="26509" b="-33"/>
          <a:stretch>
            <a:fillRect/>
          </a:stretch>
        </p:blipFill>
        <p:spPr>
          <a:xfrm>
            <a:off x="412156" y="1296486"/>
            <a:ext cx="11130139" cy="426502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5">
          <a:extLst>
            <a:ext uri="{FF2B5EF4-FFF2-40B4-BE49-F238E27FC236}">
              <a16:creationId xmlns:a16="http://schemas.microsoft.com/office/drawing/2014/main" id="{7FEFE7C5-B014-B248-A280-1360BE6D6E01}"/>
            </a:ext>
          </a:extLst>
        </p:cNvPr>
        <p:cNvGrpSpPr/>
        <p:nvPr/>
      </p:nvGrpSpPr>
      <p:grpSpPr>
        <a:xfrm>
          <a:off x="0" y="0"/>
          <a:ext cx="0" cy="0"/>
          <a:chOff x="0" y="0"/>
          <a:chExt cx="0" cy="0"/>
        </a:xfrm>
      </p:grpSpPr>
      <p:sp>
        <p:nvSpPr>
          <p:cNvPr id="126" name="Google Shape;126;p6">
            <a:extLst>
              <a:ext uri="{FF2B5EF4-FFF2-40B4-BE49-F238E27FC236}">
                <a16:creationId xmlns:a16="http://schemas.microsoft.com/office/drawing/2014/main" id="{8DDF3340-775D-1206-5F9C-2A604B9E05F7}"/>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7</a:t>
            </a:fld>
            <a:endParaRPr b="1">
              <a:solidFill>
                <a:schemeClr val="dk1"/>
              </a:solidFill>
            </a:endParaRPr>
          </a:p>
        </p:txBody>
      </p:sp>
      <p:sp>
        <p:nvSpPr>
          <p:cNvPr id="127" name="Google Shape;127;p6">
            <a:extLst>
              <a:ext uri="{FF2B5EF4-FFF2-40B4-BE49-F238E27FC236}">
                <a16:creationId xmlns:a16="http://schemas.microsoft.com/office/drawing/2014/main" id="{1F26A455-1F7F-0E24-548B-1E2404FC73D5}"/>
              </a:ext>
            </a:extLst>
          </p:cNvPr>
          <p:cNvSpPr txBox="1"/>
          <p:nvPr/>
        </p:nvSpPr>
        <p:spPr>
          <a:xfrm>
            <a:off x="363793" y="297865"/>
            <a:ext cx="12345600" cy="707846"/>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algn="ctr">
              <a:defRPr sz="4000" b="1">
                <a:solidFill>
                  <a:schemeClr val="dk1"/>
                </a:solidFill>
                <a:latin typeface="Arial Narrow"/>
                <a:ea typeface="Arial Narrow"/>
                <a:cs typeface="Arial Narrow"/>
              </a:defRPr>
            </a:lvl1pPr>
          </a:lstStyle>
          <a:p>
            <a:r>
              <a:rPr lang="en-US" dirty="0">
                <a:sym typeface="Arial Narrow"/>
              </a:rPr>
              <a:t>PROBLEM IDENTIFICAITON</a:t>
            </a:r>
            <a:endParaRPr dirty="0">
              <a:sym typeface="Arial Narrow"/>
            </a:endParaRPr>
          </a:p>
        </p:txBody>
      </p:sp>
      <p:sp>
        <p:nvSpPr>
          <p:cNvPr id="2" name="Rectangle 1">
            <a:extLst>
              <a:ext uri="{FF2B5EF4-FFF2-40B4-BE49-F238E27FC236}">
                <a16:creationId xmlns:a16="http://schemas.microsoft.com/office/drawing/2014/main" id="{9AFE84AD-8CF3-A5C8-D9D3-A288C2601CE7}"/>
              </a:ext>
            </a:extLst>
          </p:cNvPr>
          <p:cNvSpPr>
            <a:spLocks noChangeArrowheads="1"/>
          </p:cNvSpPr>
          <p:nvPr/>
        </p:nvSpPr>
        <p:spPr bwMode="auto">
          <a:xfrm>
            <a:off x="1116702" y="1780744"/>
            <a:ext cx="10497782" cy="3175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indent="-457200" algn="just">
              <a:lnSpc>
                <a:spcPct val="150000"/>
              </a:lnSpc>
              <a:buFont typeface="+mj-lt"/>
              <a:buAutoNum type="arabicPeriod"/>
            </a:pPr>
            <a:r>
              <a:rPr lang="en-US" sz="2400" dirty="0">
                <a:solidFill>
                  <a:schemeClr val="tx1"/>
                </a:solidFill>
                <a:latin typeface="Times New Roman" panose="02020603050405020304" pitchFamily="18" charset="0"/>
                <a:cs typeface="Times New Roman" panose="02020603050405020304" pitchFamily="18" charset="0"/>
              </a:rPr>
              <a:t> </a:t>
            </a:r>
            <a:r>
              <a:rPr lang="en-US" sz="2000" dirty="0">
                <a:solidFill>
                  <a:schemeClr val="tx1"/>
                </a:solidFill>
                <a:latin typeface="Times New Roman" panose="02020603050405020304" pitchFamily="18" charset="0"/>
                <a:cs typeface="Times New Roman" panose="02020603050405020304" pitchFamily="18" charset="0"/>
              </a:rPr>
              <a:t>The admin login page is publicly accessible, making it vulnerable to attacks such as phishing, brute-force attempts, and data leaks that can lead to stolen credentials. </a:t>
            </a:r>
          </a:p>
          <a:p>
            <a:pPr marL="457200" indent="-457200" algn="just">
              <a:lnSpc>
                <a:spcPct val="150000"/>
              </a:lnSpc>
              <a:buFont typeface="+mj-lt"/>
              <a:buAutoNum type="arabicPeriod"/>
            </a:pPr>
            <a:endParaRPr lang="en-US" sz="2000" dirty="0">
              <a:solidFill>
                <a:schemeClr val="tx1"/>
              </a:solidFill>
              <a:latin typeface="Times New Roman" panose="02020603050405020304" pitchFamily="18" charset="0"/>
              <a:cs typeface="Times New Roman" panose="02020603050405020304" pitchFamily="18" charset="0"/>
            </a:endParaRPr>
          </a:p>
          <a:p>
            <a:pPr marL="457200" indent="-457200" algn="just">
              <a:lnSpc>
                <a:spcPct val="150000"/>
              </a:lnSpc>
              <a:buFont typeface="+mj-lt"/>
              <a:buAutoNum type="arabicPeriod"/>
            </a:pPr>
            <a:r>
              <a:rPr lang="en-US" sz="2000" dirty="0">
                <a:solidFill>
                  <a:schemeClr val="tx1"/>
                </a:solidFill>
                <a:latin typeface="Times New Roman" panose="02020603050405020304" pitchFamily="18" charset="0"/>
                <a:cs typeface="Times New Roman" panose="02020603050405020304" pitchFamily="18" charset="0"/>
              </a:rPr>
              <a:t> The system relies only on username and password authentication, which increases the risk of unauthorized access to sensitive data. There is no advanced security mechanism in place, such as suspicious login detection or intrusion monitoring, to prevent or detect such attacks</a:t>
            </a:r>
            <a:r>
              <a:rPr lang="en-US" sz="2000" dirty="0">
                <a:solidFill>
                  <a:schemeClr val="tx1"/>
                </a:solidFill>
              </a:rPr>
              <a:t>.</a:t>
            </a:r>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48616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8</a:t>
            </a:fld>
            <a:endParaRPr b="1">
              <a:solidFill>
                <a:schemeClr val="dk1"/>
              </a:solidFill>
            </a:endParaRPr>
          </a:p>
        </p:txBody>
      </p:sp>
      <p:sp>
        <p:nvSpPr>
          <p:cNvPr id="133" name="Google Shape;133;p7"/>
          <p:cNvSpPr txBox="1"/>
          <p:nvPr/>
        </p:nvSpPr>
        <p:spPr>
          <a:xfrm>
            <a:off x="0" y="0"/>
            <a:ext cx="12192000" cy="708000"/>
          </a:xfrm>
          <a:prstGeom prst="rect">
            <a:avLst/>
          </a:prstGeom>
          <a:noFill/>
          <a:ln>
            <a:noFill/>
          </a:ln>
        </p:spPr>
        <p:txBody>
          <a:bodyPr spcFirstLastPara="1" wrap="square" lIns="91425" tIns="45700" rIns="91425" bIns="45700" anchor="t" anchorCtr="0">
            <a:spAutoFit/>
          </a:bodyPr>
          <a:lstStyle/>
          <a:p>
            <a:pPr lvl="0" algn="ctr"/>
            <a:r>
              <a:rPr lang="en-US" sz="4000" b="1" dirty="0">
                <a:solidFill>
                  <a:schemeClr val="dk1"/>
                </a:solidFill>
                <a:latin typeface="Arial Narrow"/>
                <a:ea typeface="Arial Narrow"/>
                <a:cs typeface="Arial Narrow"/>
                <a:sym typeface="Arial Narrow"/>
              </a:rPr>
              <a:t>PROPOSED SYSTEM </a:t>
            </a:r>
            <a:r>
              <a:rPr lang="en-US" sz="4000" b="1" dirty="0">
                <a:solidFill>
                  <a:schemeClr val="dk1"/>
                </a:solidFill>
                <a:latin typeface="Arial Narrow"/>
              </a:rPr>
              <a:t>ARCHITECTURE</a:t>
            </a:r>
            <a:endParaRPr sz="4000" b="1" dirty="0">
              <a:solidFill>
                <a:schemeClr val="dk1"/>
              </a:solidFill>
              <a:latin typeface="Arial Narrow"/>
              <a:sym typeface="Arial Narrow"/>
            </a:endParaRPr>
          </a:p>
        </p:txBody>
      </p:sp>
      <p:pic>
        <p:nvPicPr>
          <p:cNvPr id="2" name="Picture 1">
            <a:extLst>
              <a:ext uri="{FF2B5EF4-FFF2-40B4-BE49-F238E27FC236}">
                <a16:creationId xmlns:a16="http://schemas.microsoft.com/office/drawing/2014/main" id="{14C7CE40-EB23-ACCB-48B8-ED7B7F0BD67A}"/>
              </a:ext>
            </a:extLst>
          </p:cNvPr>
          <p:cNvPicPr>
            <a:picLocks noChangeAspect="1"/>
          </p:cNvPicPr>
          <p:nvPr/>
        </p:nvPicPr>
        <p:blipFill>
          <a:blip r:embed="rId3"/>
          <a:srcRect t="27777" b="1"/>
          <a:stretch>
            <a:fillRect/>
          </a:stretch>
        </p:blipFill>
        <p:spPr>
          <a:xfrm>
            <a:off x="846062" y="1207823"/>
            <a:ext cx="10110696" cy="503255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8"/>
          <p:cNvSpPr txBox="1">
            <a:spLocks noGrp="1"/>
          </p:cNvSpPr>
          <p:nvPr>
            <p:ph type="title"/>
          </p:nvPr>
        </p:nvSpPr>
        <p:spPr>
          <a:xfrm>
            <a:off x="0" y="314631"/>
            <a:ext cx="12192000" cy="8238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b="1" dirty="0">
                <a:latin typeface="Arial Narrow"/>
                <a:ea typeface="Arial Narrow"/>
                <a:cs typeface="Arial Narrow"/>
                <a:sym typeface="Arial Narrow"/>
              </a:rPr>
              <a:t>SOFTWARE AND HARDWARE REQUIREMENTS </a:t>
            </a:r>
            <a:endParaRPr dirty="0">
              <a:latin typeface="Arial Narrow"/>
              <a:ea typeface="Arial Narrow"/>
              <a:cs typeface="Arial Narrow"/>
              <a:sym typeface="Arial Narrow"/>
            </a:endParaRPr>
          </a:p>
        </p:txBody>
      </p:sp>
      <p:sp>
        <p:nvSpPr>
          <p:cNvPr id="139" name="Google Shape;139;p8"/>
          <p:cNvSpPr txBox="1">
            <a:spLocks noGrp="1"/>
          </p:cNvSpPr>
          <p:nvPr>
            <p:ph type="body" idx="2"/>
          </p:nvPr>
        </p:nvSpPr>
        <p:spPr>
          <a:xfrm>
            <a:off x="590402" y="2529537"/>
            <a:ext cx="5157900" cy="3684600"/>
          </a:xfrm>
          <a:prstGeom prst="rect">
            <a:avLst/>
          </a:prstGeom>
          <a:noFill/>
          <a:ln>
            <a:noFill/>
          </a:ln>
        </p:spPr>
        <p:txBody>
          <a:bodyPr spcFirstLastPara="1" wrap="square" lIns="91425" tIns="45700" rIns="91425" bIns="45700" anchor="t" anchorCtr="0">
            <a:normAutofit fontScale="92500" lnSpcReduction="20000"/>
          </a:bodyPr>
          <a:lstStyle/>
          <a:p>
            <a:pPr marL="0" lvl="0" indent="0" algn="ctr" rtl="0">
              <a:spcBef>
                <a:spcPts val="0"/>
              </a:spcBef>
              <a:spcAft>
                <a:spcPts val="0"/>
              </a:spcAft>
              <a:buClr>
                <a:schemeClr val="dk1"/>
              </a:buClr>
              <a:buSzPts val="2800"/>
              <a:buFont typeface="Arial"/>
              <a:buNone/>
            </a:pPr>
            <a:r>
              <a:rPr lang="en-US" b="1" dirty="0">
                <a:latin typeface="Arial Narrow"/>
                <a:ea typeface="Arial Narrow"/>
                <a:cs typeface="Arial Narrow"/>
                <a:sym typeface="Arial Narrow"/>
              </a:rPr>
              <a:t>HARDWARE</a:t>
            </a:r>
          </a:p>
          <a:p>
            <a:pPr marL="0" lvl="0" indent="0" algn="ctr" rtl="0">
              <a:spcBef>
                <a:spcPts val="0"/>
              </a:spcBef>
              <a:spcAft>
                <a:spcPts val="0"/>
              </a:spcAft>
              <a:buClr>
                <a:schemeClr val="dk1"/>
              </a:buClr>
              <a:buSzPts val="2800"/>
              <a:buFont typeface="Arial"/>
              <a:buNone/>
            </a:pPr>
            <a:endParaRPr dirty="0">
              <a:latin typeface="Arial Narrow"/>
              <a:ea typeface="Arial Narrow"/>
              <a:cs typeface="Arial Narrow"/>
              <a:sym typeface="Arial Narrow"/>
            </a:endParaRPr>
          </a:p>
          <a:p>
            <a:pPr marL="5715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Processor : Basic (Intel i3 or above) </a:t>
            </a:r>
          </a:p>
          <a:p>
            <a:pPr marL="5715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 RAM : 4 GB minimum </a:t>
            </a:r>
          </a:p>
          <a:p>
            <a:pPr marL="5715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 Storage : 100 MB free space </a:t>
            </a:r>
          </a:p>
          <a:p>
            <a:pPr marL="5715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 Internet : Required </a:t>
            </a:r>
          </a:p>
          <a:p>
            <a:pPr marL="5715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 Keyboard &amp; Mouse</a:t>
            </a:r>
          </a:p>
        </p:txBody>
      </p:sp>
      <p:sp>
        <p:nvSpPr>
          <p:cNvPr id="140" name="Google Shape;140;p8"/>
          <p:cNvSpPr txBox="1">
            <a:spLocks noGrp="1"/>
          </p:cNvSpPr>
          <p:nvPr>
            <p:ph type="body" idx="4"/>
          </p:nvPr>
        </p:nvSpPr>
        <p:spPr>
          <a:xfrm>
            <a:off x="6643064" y="2529537"/>
            <a:ext cx="5183100" cy="3684600"/>
          </a:xfrm>
          <a:prstGeom prst="rect">
            <a:avLst/>
          </a:prstGeom>
          <a:noFill/>
          <a:ln>
            <a:noFill/>
          </a:ln>
        </p:spPr>
        <p:txBody>
          <a:bodyPr spcFirstLastPara="1" wrap="square" lIns="91425" tIns="45700" rIns="91425" bIns="45700" anchor="t" anchorCtr="0">
            <a:normAutofit fontScale="77500" lnSpcReduction="20000"/>
          </a:bodyPr>
          <a:lstStyle/>
          <a:p>
            <a:pPr marL="0" lvl="0" indent="0" algn="ctr" rtl="0">
              <a:spcBef>
                <a:spcPts val="0"/>
              </a:spcBef>
              <a:spcAft>
                <a:spcPts val="0"/>
              </a:spcAft>
              <a:buClr>
                <a:schemeClr val="dk1"/>
              </a:buClr>
              <a:buSzPts val="2800"/>
              <a:buFont typeface="Arial"/>
              <a:buNone/>
            </a:pPr>
            <a:r>
              <a:rPr lang="en-US" sz="3400" b="1" dirty="0">
                <a:latin typeface="Arial Narrow"/>
                <a:ea typeface="Arial Narrow"/>
                <a:cs typeface="Arial Narrow"/>
                <a:sym typeface="Arial Narrow"/>
              </a:rPr>
              <a:t>SOFTWARE</a:t>
            </a:r>
          </a:p>
          <a:p>
            <a:pPr marL="0" lvl="0" indent="0" algn="ctr" rtl="0">
              <a:spcBef>
                <a:spcPts val="0"/>
              </a:spcBef>
              <a:spcAft>
                <a:spcPts val="0"/>
              </a:spcAft>
              <a:buClr>
                <a:schemeClr val="dk1"/>
              </a:buClr>
              <a:buSzPts val="2800"/>
              <a:buFont typeface="Arial"/>
              <a:buNone/>
            </a:pPr>
            <a:endParaRPr b="1" dirty="0">
              <a:latin typeface="Arial Narrow"/>
              <a:ea typeface="Arial Narrow"/>
              <a:cs typeface="Arial Narrow"/>
              <a:sym typeface="Arial Narrow"/>
            </a:endParaRPr>
          </a:p>
          <a:p>
            <a:pPr marL="514350" indent="-514350">
              <a:lnSpc>
                <a:spcPct val="150000"/>
              </a:lnSpc>
              <a:buFont typeface="+mj-lt"/>
              <a:buAutoNum type="arabicPeriod"/>
            </a:pPr>
            <a:r>
              <a:rPr lang="en-IN" dirty="0">
                <a:latin typeface="Times New Roman" panose="02020603050405020304" pitchFamily="18" charset="0"/>
                <a:cs typeface="Times New Roman" panose="02020603050405020304" pitchFamily="18" charset="0"/>
              </a:rPr>
              <a:t>Operating System: Windows  </a:t>
            </a:r>
          </a:p>
          <a:p>
            <a:pPr marL="514350" indent="-514350">
              <a:lnSpc>
                <a:spcPct val="150000"/>
              </a:lnSpc>
              <a:buFont typeface="+mj-lt"/>
              <a:buAutoNum type="arabicPeriod"/>
            </a:pPr>
            <a:r>
              <a:rPr lang="en-IN" dirty="0">
                <a:latin typeface="Times New Roman" panose="02020603050405020304" pitchFamily="18" charset="0"/>
                <a:cs typeface="Times New Roman" panose="02020603050405020304" pitchFamily="18" charset="0"/>
              </a:rPr>
              <a:t>Web Browser: Chrome  </a:t>
            </a:r>
          </a:p>
          <a:p>
            <a:pPr marL="514350" indent="-514350">
              <a:lnSpc>
                <a:spcPct val="150000"/>
              </a:lnSpc>
              <a:buFont typeface="+mj-lt"/>
              <a:buAutoNum type="arabicPeriod"/>
            </a:pPr>
            <a:r>
              <a:rPr lang="en-IN" dirty="0" err="1">
                <a:latin typeface="Times New Roman" panose="02020603050405020304" pitchFamily="18" charset="0"/>
                <a:cs typeface="Times New Roman" panose="02020603050405020304" pitchFamily="18" charset="0"/>
              </a:rPr>
              <a:t>EmailJS</a:t>
            </a:r>
            <a:r>
              <a:rPr lang="en-IN" dirty="0">
                <a:latin typeface="Times New Roman" panose="02020603050405020304" pitchFamily="18" charset="0"/>
                <a:cs typeface="Times New Roman" panose="02020603050405020304" pitchFamily="18" charset="0"/>
              </a:rPr>
              <a:t> Account (for OTP &amp; alerts) </a:t>
            </a:r>
          </a:p>
          <a:p>
            <a:pPr marL="514350" indent="-514350">
              <a:lnSpc>
                <a:spcPct val="150000"/>
              </a:lnSpc>
              <a:buFont typeface="+mj-lt"/>
              <a:buAutoNum type="arabicPeriod"/>
            </a:pPr>
            <a:r>
              <a:rPr lang="en-IN" dirty="0">
                <a:latin typeface="Times New Roman" panose="02020603050405020304" pitchFamily="18" charset="0"/>
                <a:cs typeface="Times New Roman" panose="02020603050405020304" pitchFamily="18" charset="0"/>
              </a:rPr>
              <a:t>Internet Connection (for APIs &amp; fonts) </a:t>
            </a:r>
          </a:p>
          <a:p>
            <a:pPr marL="514350" indent="-514350">
              <a:lnSpc>
                <a:spcPct val="150000"/>
              </a:lnSpc>
              <a:buFont typeface="+mj-lt"/>
              <a:buAutoNum type="arabicPeriod"/>
            </a:pPr>
            <a:r>
              <a:rPr lang="en-IN" dirty="0">
                <a:latin typeface="Times New Roman" panose="02020603050405020304" pitchFamily="18" charset="0"/>
                <a:cs typeface="Times New Roman" panose="02020603050405020304" pitchFamily="18" charset="0"/>
              </a:rPr>
              <a:t>Frontend: HTML, CSS, JavaScript</a:t>
            </a:r>
          </a:p>
        </p:txBody>
      </p:sp>
      <p:sp>
        <p:nvSpPr>
          <p:cNvPr id="141" name="Google Shape;141;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9</a:t>
            </a:fld>
            <a:endParaRPr b="1">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9"/>
          <p:cNvSpPr txBox="1">
            <a:spLocks noGrp="1"/>
          </p:cNvSpPr>
          <p:nvPr>
            <p:ph type="title"/>
          </p:nvPr>
        </p:nvSpPr>
        <p:spPr>
          <a:xfrm>
            <a:off x="0" y="349263"/>
            <a:ext cx="12192000" cy="6186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ct val="100000"/>
              <a:buFont typeface="Times New Roman"/>
              <a:buNone/>
            </a:pPr>
            <a:r>
              <a:rPr lang="en-US" b="1" dirty="0">
                <a:latin typeface="Arial Narrow"/>
                <a:ea typeface="Arial Narrow"/>
                <a:cs typeface="Arial Narrow"/>
                <a:sym typeface="Arial Narrow"/>
              </a:rPr>
              <a:t>MODULES </a:t>
            </a:r>
            <a:endParaRPr dirty="0">
              <a:latin typeface="Arial Narrow"/>
              <a:ea typeface="Arial Narrow"/>
              <a:cs typeface="Arial Narrow"/>
              <a:sym typeface="Arial Narrow"/>
            </a:endParaRPr>
          </a:p>
        </p:txBody>
      </p:sp>
      <p:sp>
        <p:nvSpPr>
          <p:cNvPr id="147" name="Google Shape;147;p9"/>
          <p:cNvSpPr txBox="1">
            <a:spLocks noGrp="1"/>
          </p:cNvSpPr>
          <p:nvPr>
            <p:ph type="body" idx="1"/>
          </p:nvPr>
        </p:nvSpPr>
        <p:spPr>
          <a:xfrm>
            <a:off x="1429999" y="1505872"/>
            <a:ext cx="11405420" cy="4850478"/>
          </a:xfrm>
          <a:prstGeom prst="rect">
            <a:avLst/>
          </a:prstGeom>
          <a:noFill/>
          <a:ln>
            <a:noFill/>
          </a:ln>
        </p:spPr>
        <p:txBody>
          <a:bodyPr spcFirstLastPara="1" wrap="square" lIns="91425" tIns="45700" rIns="91425" bIns="45700" anchor="t" anchorCtr="0">
            <a:normAutofit/>
          </a:bodyPr>
          <a:lstStyle/>
          <a:p>
            <a:pPr indent="-457200">
              <a:lnSpc>
                <a:spcPct val="150000"/>
              </a:lnSpc>
              <a:buFont typeface="+mj-lt"/>
              <a:buAutoNum type="arabicPeriod"/>
            </a:pPr>
            <a:r>
              <a:rPr lang="en-IN" sz="2400" dirty="0">
                <a:solidFill>
                  <a:schemeClr val="tx1"/>
                </a:solidFill>
                <a:latin typeface="Times New Roman" panose="02020603050405020304" pitchFamily="18" charset="0"/>
                <a:cs typeface="Times New Roman" panose="02020603050405020304" pitchFamily="18" charset="0"/>
              </a:rPr>
              <a:t> Login Portal Module </a:t>
            </a:r>
          </a:p>
          <a:p>
            <a:pPr indent="-457200">
              <a:lnSpc>
                <a:spcPct val="150000"/>
              </a:lnSpc>
              <a:buFont typeface="+mj-lt"/>
              <a:buAutoNum type="arabicPeriod"/>
            </a:pPr>
            <a:r>
              <a:rPr lang="en-IN" sz="2400" dirty="0">
                <a:solidFill>
                  <a:schemeClr val="tx1"/>
                </a:solidFill>
                <a:latin typeface="Times New Roman" panose="02020603050405020304" pitchFamily="18" charset="0"/>
                <a:cs typeface="Times New Roman" panose="02020603050405020304" pitchFamily="18" charset="0"/>
              </a:rPr>
              <a:t>Authentication Module</a:t>
            </a:r>
          </a:p>
          <a:p>
            <a:pPr indent="-457200">
              <a:lnSpc>
                <a:spcPct val="150000"/>
              </a:lnSpc>
              <a:buFont typeface="+mj-lt"/>
              <a:buAutoNum type="arabicPeriod"/>
            </a:pPr>
            <a:r>
              <a:rPr lang="en-IN" sz="2400" dirty="0">
                <a:solidFill>
                  <a:schemeClr val="tx1"/>
                </a:solidFill>
                <a:latin typeface="Times New Roman" panose="02020603050405020304" pitchFamily="18" charset="0"/>
                <a:cs typeface="Times New Roman" panose="02020603050405020304" pitchFamily="18" charset="0"/>
              </a:rPr>
              <a:t> Password Recovery Module</a:t>
            </a:r>
          </a:p>
          <a:p>
            <a:pPr indent="-457200">
              <a:lnSpc>
                <a:spcPct val="150000"/>
              </a:lnSpc>
              <a:buFont typeface="+mj-lt"/>
              <a:buAutoNum type="arabicPeriod"/>
            </a:pPr>
            <a:r>
              <a:rPr lang="en-IN" sz="2400" dirty="0">
                <a:solidFill>
                  <a:schemeClr val="tx1"/>
                </a:solidFill>
                <a:latin typeface="Times New Roman" panose="02020603050405020304" pitchFamily="18" charset="0"/>
                <a:cs typeface="Times New Roman" panose="02020603050405020304" pitchFamily="18" charset="0"/>
              </a:rPr>
              <a:t> Real Admin Dashboard Module</a:t>
            </a:r>
          </a:p>
          <a:p>
            <a:pPr indent="-457200">
              <a:lnSpc>
                <a:spcPct val="150000"/>
              </a:lnSpc>
              <a:buFont typeface="+mj-lt"/>
              <a:buAutoNum type="arabicPeriod"/>
            </a:pPr>
            <a:r>
              <a:rPr lang="en-IN" sz="2400" dirty="0">
                <a:solidFill>
                  <a:schemeClr val="tx1"/>
                </a:solidFill>
                <a:latin typeface="Times New Roman" panose="02020603050405020304" pitchFamily="18" charset="0"/>
                <a:cs typeface="Times New Roman" panose="02020603050405020304" pitchFamily="18" charset="0"/>
              </a:rPr>
              <a:t> Decoy Dashboard Module</a:t>
            </a:r>
          </a:p>
          <a:p>
            <a:pPr indent="-457200">
              <a:lnSpc>
                <a:spcPct val="150000"/>
              </a:lnSpc>
              <a:buFont typeface="+mj-lt"/>
              <a:buAutoNum type="arabicPeriod"/>
            </a:pPr>
            <a:r>
              <a:rPr lang="en-IN" sz="2400" dirty="0">
                <a:solidFill>
                  <a:schemeClr val="tx1"/>
                </a:solidFill>
                <a:latin typeface="Times New Roman" panose="02020603050405020304" pitchFamily="18" charset="0"/>
                <a:cs typeface="Times New Roman" panose="02020603050405020304" pitchFamily="18" charset="0"/>
              </a:rPr>
              <a:t> Alert Module</a:t>
            </a:r>
          </a:p>
          <a:p>
            <a:pPr marL="0" lvl="0" indent="0" algn="l" rtl="0">
              <a:lnSpc>
                <a:spcPct val="90000"/>
              </a:lnSpc>
              <a:spcBef>
                <a:spcPts val="1000"/>
              </a:spcBef>
              <a:spcAft>
                <a:spcPts val="0"/>
              </a:spcAft>
              <a:buClr>
                <a:srgbClr val="FF0000"/>
              </a:buClr>
              <a:buSzPts val="2800"/>
              <a:buNone/>
            </a:pPr>
            <a:endParaRPr dirty="0">
              <a:latin typeface="Arial Narrow" panose="020B0606020202030204" pitchFamily="34" charset="0"/>
            </a:endParaRPr>
          </a:p>
          <a:p>
            <a:pPr marL="0" lvl="0" indent="0" algn="l" rtl="0">
              <a:lnSpc>
                <a:spcPct val="90000"/>
              </a:lnSpc>
              <a:spcBef>
                <a:spcPts val="1000"/>
              </a:spcBef>
              <a:spcAft>
                <a:spcPts val="0"/>
              </a:spcAft>
              <a:buClr>
                <a:srgbClr val="FF0000"/>
              </a:buClr>
              <a:buSzPts val="2800"/>
              <a:buNone/>
            </a:pPr>
            <a:endParaRPr dirty="0">
              <a:latin typeface="Arial Narrow" panose="020B0606020202030204" pitchFamily="34" charset="0"/>
              <a:ea typeface="Times New Roman"/>
              <a:cs typeface="Times New Roman"/>
              <a:sym typeface="Times New Roman"/>
            </a:endParaRPr>
          </a:p>
        </p:txBody>
      </p:sp>
      <p:sp>
        <p:nvSpPr>
          <p:cNvPr id="148" name="Google Shape;148;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10</a:t>
            </a:fld>
            <a:endParaRPr b="1">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0"/>
          <p:cNvSpPr txBox="1">
            <a:spLocks noGrp="1"/>
          </p:cNvSpPr>
          <p:nvPr>
            <p:ph type="title"/>
          </p:nvPr>
        </p:nvSpPr>
        <p:spPr>
          <a:xfrm>
            <a:off x="0" y="136525"/>
            <a:ext cx="12192000" cy="566400"/>
          </a:xfrm>
          <a:prstGeom prst="rect">
            <a:avLst/>
          </a:prstGeom>
          <a:noFill/>
          <a:ln>
            <a:noFill/>
          </a:ln>
        </p:spPr>
        <p:txBody>
          <a:bodyPr spcFirstLastPara="1" wrap="square" lIns="91425" tIns="45700" rIns="91425" bIns="45700" anchor="ctr" anchorCtr="0">
            <a:normAutofit fontScale="90000"/>
          </a:bodyPr>
          <a:lstStyle/>
          <a:p>
            <a:pPr lvl="0" algn="ctr">
              <a:buSzPct val="100000"/>
            </a:pPr>
            <a:r>
              <a:rPr lang="en-US" b="1" dirty="0">
                <a:latin typeface="Arial Narrow"/>
                <a:ea typeface="Arial Narrow"/>
                <a:cs typeface="Arial Narrow"/>
                <a:sym typeface="Arial Narrow"/>
              </a:rPr>
              <a:t>IMPLEMENTATION OF MODULE - 1</a:t>
            </a:r>
            <a:endParaRPr b="1" dirty="0">
              <a:latin typeface="Arial Narrow"/>
              <a:ea typeface="Arial Narrow"/>
              <a:cs typeface="Arial Narrow"/>
              <a:sym typeface="Arial Narrow"/>
            </a:endParaRPr>
          </a:p>
        </p:txBody>
      </p:sp>
      <p:sp>
        <p:nvSpPr>
          <p:cNvPr id="155" name="Google Shape;155;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11</a:t>
            </a:fld>
            <a:endParaRPr b="1">
              <a:solidFill>
                <a:schemeClr val="dk1"/>
              </a:solidFill>
            </a:endParaRPr>
          </a:p>
        </p:txBody>
      </p:sp>
      <p:sp>
        <p:nvSpPr>
          <p:cNvPr id="3" name="AutoShape 4">
            <a:extLst>
              <a:ext uri="{FF2B5EF4-FFF2-40B4-BE49-F238E27FC236}">
                <a16:creationId xmlns:a16="http://schemas.microsoft.com/office/drawing/2014/main" id="{509656BB-8B2E-3E36-21FC-816E8E0F304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Rectangle 4">
            <a:extLst>
              <a:ext uri="{FF2B5EF4-FFF2-40B4-BE49-F238E27FC236}">
                <a16:creationId xmlns:a16="http://schemas.microsoft.com/office/drawing/2014/main" id="{F7D549A4-911D-5C3E-C662-EFB2E5852396}"/>
              </a:ext>
            </a:extLst>
          </p:cNvPr>
          <p:cNvSpPr>
            <a:spLocks noGrp="1" noChangeArrowheads="1"/>
          </p:cNvSpPr>
          <p:nvPr>
            <p:ph type="body" idx="1"/>
          </p:nvPr>
        </p:nvSpPr>
        <p:spPr bwMode="auto">
          <a:xfrm>
            <a:off x="346584" y="2235423"/>
            <a:ext cx="5960149"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ta-IN" altLang="ta-IN"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ta-IN" sz="2400" b="0" i="0" u="none" strike="noStrike" cap="none" normalizeH="0" baseline="0" dirty="0">
                <a:ln>
                  <a:noFill/>
                </a:ln>
                <a:solidFill>
                  <a:schemeClr val="tx1"/>
                </a:solidFill>
                <a:effectLst/>
                <a:latin typeface="Times New Roman" panose="02020603050405020304" pitchFamily="18" charset="0"/>
              </a:rPr>
              <a:t>  </a:t>
            </a:r>
            <a:r>
              <a:rPr kumimoji="0" lang="ta-IN" altLang="ta-IN" sz="2400" i="0" u="none" strike="noStrike" cap="none" normalizeH="0" baseline="0" dirty="0">
                <a:ln>
                  <a:noFill/>
                </a:ln>
                <a:solidFill>
                  <a:schemeClr val="tx1"/>
                </a:solidFill>
                <a:effectLst/>
                <a:latin typeface="Times New Roman" panose="02020603050405020304" pitchFamily="18" charset="0"/>
              </a:rPr>
              <a:t>Allows users/admin to log in using username/email and password.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ta-IN" sz="2400" i="0" u="none" strike="noStrike" cap="none" normalizeH="0" baseline="0" dirty="0">
                <a:ln>
                  <a:noFill/>
                </a:ln>
                <a:solidFill>
                  <a:schemeClr val="tx1"/>
                </a:solidFill>
                <a:effectLst/>
                <a:latin typeface="Times New Roman" panose="02020603050405020304" pitchFamily="18" charset="0"/>
              </a:rPr>
              <a:t>  </a:t>
            </a:r>
            <a:r>
              <a:rPr kumimoji="0" lang="ta-IN" altLang="ta-IN" sz="2400" i="0" u="none" strike="noStrike" cap="none" normalizeH="0" baseline="0" dirty="0">
                <a:ln>
                  <a:noFill/>
                </a:ln>
                <a:solidFill>
                  <a:schemeClr val="tx1"/>
                </a:solidFill>
                <a:effectLst/>
                <a:latin typeface="Times New Roman" panose="02020603050405020304" pitchFamily="18" charset="0"/>
              </a:rPr>
              <a:t>Validates credentials with backend database.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ta-IN" sz="2400" i="0" u="none" strike="noStrike" cap="none" normalizeH="0" baseline="0" dirty="0">
                <a:ln>
                  <a:noFill/>
                </a:ln>
                <a:solidFill>
                  <a:schemeClr val="tx1"/>
                </a:solidFill>
                <a:effectLst/>
                <a:latin typeface="Times New Roman" panose="02020603050405020304" pitchFamily="18" charset="0"/>
              </a:rPr>
              <a:t>  </a:t>
            </a:r>
            <a:r>
              <a:rPr kumimoji="0" lang="ta-IN" altLang="ta-IN" sz="2400" i="0" u="none" strike="noStrike" cap="none" normalizeH="0" baseline="0" dirty="0">
                <a:ln>
                  <a:noFill/>
                </a:ln>
                <a:solidFill>
                  <a:schemeClr val="tx1"/>
                </a:solidFill>
                <a:effectLst/>
                <a:latin typeface="Times New Roman" panose="02020603050405020304" pitchFamily="18" charset="0"/>
              </a:rPr>
              <a:t>Ensures only authorized users can access the system. </a:t>
            </a:r>
          </a:p>
        </p:txBody>
      </p:sp>
      <p:pic>
        <p:nvPicPr>
          <p:cNvPr id="12" name="Picture 11">
            <a:extLst>
              <a:ext uri="{FF2B5EF4-FFF2-40B4-BE49-F238E27FC236}">
                <a16:creationId xmlns:a16="http://schemas.microsoft.com/office/drawing/2014/main" id="{D41C8440-C0A1-779A-9526-C11425A53B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17940" y="697951"/>
            <a:ext cx="4624655" cy="2872683"/>
          </a:xfrm>
          <a:prstGeom prst="rect">
            <a:avLst/>
          </a:prstGeom>
        </p:spPr>
      </p:pic>
      <p:pic>
        <p:nvPicPr>
          <p:cNvPr id="13" name="Picture 12">
            <a:extLst>
              <a:ext uri="{FF2B5EF4-FFF2-40B4-BE49-F238E27FC236}">
                <a16:creationId xmlns:a16="http://schemas.microsoft.com/office/drawing/2014/main" id="{B64C7AF7-BC14-52A3-E84C-3FBB635E3F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17939" y="3666229"/>
            <a:ext cx="4624655" cy="2872683"/>
          </a:xfrm>
          <a:prstGeom prst="rect">
            <a:avLst/>
          </a:prstGeom>
        </p:spPr>
      </p:pic>
      <p:sp>
        <p:nvSpPr>
          <p:cNvPr id="15" name="TextBox 14">
            <a:extLst>
              <a:ext uri="{FF2B5EF4-FFF2-40B4-BE49-F238E27FC236}">
                <a16:creationId xmlns:a16="http://schemas.microsoft.com/office/drawing/2014/main" id="{CDC5D98A-12EC-851D-B22E-D0068A94AE82}"/>
              </a:ext>
            </a:extLst>
          </p:cNvPr>
          <p:cNvSpPr txBox="1"/>
          <p:nvPr/>
        </p:nvSpPr>
        <p:spPr>
          <a:xfrm>
            <a:off x="346584" y="1483256"/>
            <a:ext cx="5327477"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1.  </a:t>
            </a:r>
            <a:r>
              <a:rPr lang="en-IN" sz="3200" b="1" dirty="0">
                <a:solidFill>
                  <a:schemeClr val="tx1"/>
                </a:solidFill>
                <a:latin typeface="Times New Roman" panose="02020603050405020304" pitchFamily="18" charset="0"/>
                <a:cs typeface="Times New Roman" panose="02020603050405020304" pitchFamily="18" charset="0"/>
              </a:rPr>
              <a:t>Login Portal Module </a:t>
            </a:r>
            <a:endParaRPr lang="ta-IN" sz="3200"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1" name="Google Shape;161;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12</a:t>
            </a:fld>
            <a:endParaRPr b="1">
              <a:solidFill>
                <a:schemeClr val="dk1"/>
              </a:solidFill>
            </a:endParaRPr>
          </a:p>
        </p:txBody>
      </p:sp>
      <p:sp>
        <p:nvSpPr>
          <p:cNvPr id="162" name="Google Shape;162;p11"/>
          <p:cNvSpPr txBox="1">
            <a:spLocks noGrp="1"/>
          </p:cNvSpPr>
          <p:nvPr>
            <p:ph type="title"/>
          </p:nvPr>
        </p:nvSpPr>
        <p:spPr>
          <a:xfrm>
            <a:off x="0" y="136525"/>
            <a:ext cx="12192000" cy="566400"/>
          </a:xfrm>
          <a:prstGeom prst="rect">
            <a:avLst/>
          </a:prstGeom>
          <a:noFill/>
          <a:ln>
            <a:noFill/>
          </a:ln>
        </p:spPr>
        <p:txBody>
          <a:bodyPr spcFirstLastPara="1" wrap="square" lIns="91425" tIns="45700" rIns="91425" bIns="45700" anchor="ctr" anchorCtr="0">
            <a:normAutofit fontScale="90000"/>
          </a:bodyPr>
          <a:lstStyle/>
          <a:p>
            <a:pPr lvl="0" algn="ctr">
              <a:buSzPct val="100000"/>
            </a:pPr>
            <a:r>
              <a:rPr lang="en-US" b="1" dirty="0">
                <a:latin typeface="Arial Narrow"/>
                <a:ea typeface="Arial Narrow"/>
                <a:cs typeface="Arial Narrow"/>
                <a:sym typeface="Arial Narrow"/>
              </a:rPr>
              <a:t>IMPLEMENTATION OF MODULE - 2</a:t>
            </a:r>
            <a:endParaRPr b="1" dirty="0">
              <a:latin typeface="Arial Narrow"/>
              <a:ea typeface="Arial Narrow"/>
              <a:cs typeface="Arial Narrow"/>
              <a:sym typeface="Arial Narrow"/>
            </a:endParaRPr>
          </a:p>
        </p:txBody>
      </p:sp>
      <p:sp>
        <p:nvSpPr>
          <p:cNvPr id="4" name="TextBox 3">
            <a:extLst>
              <a:ext uri="{FF2B5EF4-FFF2-40B4-BE49-F238E27FC236}">
                <a16:creationId xmlns:a16="http://schemas.microsoft.com/office/drawing/2014/main" id="{B5E5FBA5-0D30-1280-9134-83660612115E}"/>
              </a:ext>
            </a:extLst>
          </p:cNvPr>
          <p:cNvSpPr txBox="1"/>
          <p:nvPr/>
        </p:nvSpPr>
        <p:spPr>
          <a:xfrm>
            <a:off x="373625" y="1024134"/>
            <a:ext cx="6096000" cy="742511"/>
          </a:xfrm>
          <a:prstGeom prst="rect">
            <a:avLst/>
          </a:prstGeom>
          <a:noFill/>
        </p:spPr>
        <p:txBody>
          <a:bodyPr wrap="square">
            <a:spAutoFit/>
          </a:bodyPr>
          <a:lstStyle/>
          <a:p>
            <a:pPr algn="just">
              <a:lnSpc>
                <a:spcPct val="150000"/>
              </a:lnSpc>
            </a:pPr>
            <a:r>
              <a:rPr lang="en-IN" sz="3200" b="1" dirty="0">
                <a:solidFill>
                  <a:schemeClr val="tx1"/>
                </a:solidFill>
                <a:latin typeface="Times New Roman" panose="02020603050405020304" pitchFamily="18" charset="0"/>
                <a:cs typeface="Times New Roman" panose="02020603050405020304" pitchFamily="18" charset="0"/>
              </a:rPr>
              <a:t>2. Authentication Module</a:t>
            </a:r>
          </a:p>
        </p:txBody>
      </p:sp>
      <p:sp>
        <p:nvSpPr>
          <p:cNvPr id="7" name="Text Placeholder 6">
            <a:extLst>
              <a:ext uri="{FF2B5EF4-FFF2-40B4-BE49-F238E27FC236}">
                <a16:creationId xmlns:a16="http://schemas.microsoft.com/office/drawing/2014/main" id="{7B8DB46E-3984-DB99-C4EF-6A9B33FFEA2E}"/>
              </a:ext>
            </a:extLst>
          </p:cNvPr>
          <p:cNvSpPr>
            <a:spLocks noGrp="1"/>
          </p:cNvSpPr>
          <p:nvPr>
            <p:ph type="body" idx="1"/>
          </p:nvPr>
        </p:nvSpPr>
        <p:spPr>
          <a:xfrm>
            <a:off x="216310" y="2038158"/>
            <a:ext cx="5270090" cy="4351338"/>
          </a:xfrm>
        </p:spPr>
        <p:txBody>
          <a:bodyPr>
            <a:normAutofit/>
          </a:bodyPr>
          <a:lstStyle/>
          <a:p>
            <a:pPr algn="just">
              <a:lnSpc>
                <a:spcPct val="150000"/>
              </a:lnSpc>
            </a:pPr>
            <a:r>
              <a:rPr lang="en-US" sz="2400" dirty="0">
                <a:latin typeface="Times New Roman" panose="02020603050405020304" pitchFamily="18" charset="0"/>
                <a:cs typeface="Times New Roman" panose="02020603050405020304" pitchFamily="18" charset="0"/>
              </a:rPr>
              <a:t>Validates user credentials (username/email and password).</a:t>
            </a:r>
          </a:p>
          <a:p>
            <a:pPr algn="just">
              <a:lnSpc>
                <a:spcPct val="150000"/>
              </a:lnSpc>
            </a:pPr>
            <a:r>
              <a:rPr lang="en-US" sz="2400" dirty="0">
                <a:latin typeface="Times New Roman" panose="02020603050405020304" pitchFamily="18" charset="0"/>
                <a:cs typeface="Times New Roman" panose="02020603050405020304" pitchFamily="18" charset="0"/>
              </a:rPr>
              <a:t>Adds an extra layer of protection using OTP verification.</a:t>
            </a:r>
          </a:p>
          <a:p>
            <a:pPr algn="just">
              <a:lnSpc>
                <a:spcPct val="150000"/>
              </a:lnSpc>
            </a:pPr>
            <a:r>
              <a:rPr lang="en-US" sz="2400" dirty="0">
                <a:latin typeface="Times New Roman" panose="02020603050405020304" pitchFamily="18" charset="0"/>
                <a:cs typeface="Times New Roman" panose="02020603050405020304" pitchFamily="18" charset="0"/>
              </a:rPr>
              <a:t>Grants access to the dashboard only for authorized users and blocks unauthorized attempts.</a:t>
            </a:r>
            <a:endParaRPr lang="ta-IN" sz="2400" dirty="0">
              <a:latin typeface="Times New Roman" panose="02020603050405020304" pitchFamily="18" charset="0"/>
            </a:endParaRPr>
          </a:p>
        </p:txBody>
      </p:sp>
      <p:pic>
        <p:nvPicPr>
          <p:cNvPr id="8" name="Picture 7">
            <a:extLst>
              <a:ext uri="{FF2B5EF4-FFF2-40B4-BE49-F238E27FC236}">
                <a16:creationId xmlns:a16="http://schemas.microsoft.com/office/drawing/2014/main" id="{47FB7BFC-8C4B-CC6D-3695-3A885A81757A}"/>
              </a:ext>
            </a:extLst>
          </p:cNvPr>
          <p:cNvPicPr>
            <a:picLocks noChangeAspect="1"/>
          </p:cNvPicPr>
          <p:nvPr/>
        </p:nvPicPr>
        <p:blipFill>
          <a:blip r:embed="rId3"/>
          <a:stretch>
            <a:fillRect/>
          </a:stretch>
        </p:blipFill>
        <p:spPr>
          <a:xfrm>
            <a:off x="5939257" y="1006902"/>
            <a:ext cx="5574317" cy="2218079"/>
          </a:xfrm>
          <a:prstGeom prst="rect">
            <a:avLst/>
          </a:prstGeom>
        </p:spPr>
      </p:pic>
      <p:pic>
        <p:nvPicPr>
          <p:cNvPr id="9" name="Picture 8">
            <a:extLst>
              <a:ext uri="{FF2B5EF4-FFF2-40B4-BE49-F238E27FC236}">
                <a16:creationId xmlns:a16="http://schemas.microsoft.com/office/drawing/2014/main" id="{739D4FDE-B95B-8ECA-339D-07756BBC33D8}"/>
              </a:ext>
            </a:extLst>
          </p:cNvPr>
          <p:cNvPicPr>
            <a:picLocks noChangeAspect="1"/>
          </p:cNvPicPr>
          <p:nvPr/>
        </p:nvPicPr>
        <p:blipFill>
          <a:blip r:embed="rId4"/>
          <a:stretch>
            <a:fillRect/>
          </a:stretch>
        </p:blipFill>
        <p:spPr>
          <a:xfrm>
            <a:off x="5939257" y="3429001"/>
            <a:ext cx="5574317" cy="273582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2" name="Google Shape;182;p14"/>
          <p:cNvSpPr txBox="1">
            <a:spLocks noGrp="1"/>
          </p:cNvSpPr>
          <p:nvPr>
            <p:ph type="sldNum" idx="12"/>
          </p:nvPr>
        </p:nvSpPr>
        <p:spPr>
          <a:xfrm>
            <a:off x="94488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13</a:t>
            </a:fld>
            <a:endParaRPr b="1">
              <a:solidFill>
                <a:schemeClr val="dk1"/>
              </a:solidFill>
            </a:endParaRPr>
          </a:p>
        </p:txBody>
      </p:sp>
      <p:sp>
        <p:nvSpPr>
          <p:cNvPr id="183" name="Google Shape;183;p14"/>
          <p:cNvSpPr txBox="1">
            <a:spLocks noGrp="1"/>
          </p:cNvSpPr>
          <p:nvPr>
            <p:ph type="title"/>
          </p:nvPr>
        </p:nvSpPr>
        <p:spPr>
          <a:xfrm>
            <a:off x="0" y="0"/>
            <a:ext cx="12192000" cy="566400"/>
          </a:xfrm>
          <a:prstGeom prst="rect">
            <a:avLst/>
          </a:prstGeom>
          <a:noFill/>
          <a:ln>
            <a:noFill/>
          </a:ln>
        </p:spPr>
        <p:txBody>
          <a:bodyPr spcFirstLastPara="1" wrap="square" lIns="91425" tIns="45700" rIns="91425" bIns="45700" anchor="ctr" anchorCtr="0">
            <a:normAutofit fontScale="90000"/>
          </a:bodyPr>
          <a:lstStyle/>
          <a:p>
            <a:pPr lvl="0" algn="ctr">
              <a:buSzPct val="100000"/>
            </a:pPr>
            <a:r>
              <a:rPr lang="en-US" b="1" dirty="0">
                <a:latin typeface="Arial Narrow"/>
                <a:ea typeface="Arial Narrow"/>
                <a:cs typeface="Arial Narrow"/>
                <a:sym typeface="Arial Narrow"/>
              </a:rPr>
              <a:t>IMPLEMENTATION OF MODULE - 3</a:t>
            </a:r>
            <a:endParaRPr b="1" dirty="0">
              <a:latin typeface="Arial Narrow"/>
              <a:ea typeface="Arial Narrow"/>
              <a:cs typeface="Arial Narrow"/>
              <a:sym typeface="Arial Narrow"/>
            </a:endParaRPr>
          </a:p>
        </p:txBody>
      </p:sp>
      <p:sp>
        <p:nvSpPr>
          <p:cNvPr id="4" name="Text Placeholder 3">
            <a:extLst>
              <a:ext uri="{FF2B5EF4-FFF2-40B4-BE49-F238E27FC236}">
                <a16:creationId xmlns:a16="http://schemas.microsoft.com/office/drawing/2014/main" id="{E65A276A-1E3F-DB42-4E77-A304935490D7}"/>
              </a:ext>
            </a:extLst>
          </p:cNvPr>
          <p:cNvSpPr>
            <a:spLocks noGrp="1"/>
          </p:cNvSpPr>
          <p:nvPr>
            <p:ph type="body" idx="1"/>
          </p:nvPr>
        </p:nvSpPr>
        <p:spPr>
          <a:xfrm>
            <a:off x="838200" y="1825625"/>
            <a:ext cx="4729146" cy="4351338"/>
          </a:xfrm>
        </p:spPr>
        <p:txBody>
          <a:bodyPr>
            <a:normAutofit fontScale="92500"/>
          </a:bodyPr>
          <a:lstStyle/>
          <a:p>
            <a:pPr algn="just">
              <a:lnSpc>
                <a:spcPct val="150000"/>
              </a:lnSpc>
            </a:pPr>
            <a:r>
              <a:rPr lang="en-US" sz="2400" dirty="0">
                <a:latin typeface="Times New Roman" panose="02020603050405020304" pitchFamily="18" charset="0"/>
                <a:cs typeface="Times New Roman" panose="02020603050405020304" pitchFamily="18" charset="0"/>
              </a:rPr>
              <a:t>User selects “Forgot Password” and enters the registered email. </a:t>
            </a:r>
          </a:p>
          <a:p>
            <a:pPr algn="just">
              <a:lnSpc>
                <a:spcPct val="150000"/>
              </a:lnSpc>
            </a:pPr>
            <a:r>
              <a:rPr lang="en-US" sz="2400" dirty="0">
                <a:latin typeface="Times New Roman" panose="02020603050405020304" pitchFamily="18" charset="0"/>
                <a:cs typeface="Times New Roman" panose="02020603050405020304" pitchFamily="18" charset="0"/>
              </a:rPr>
              <a:t>System sends an OTP to the email for verification. </a:t>
            </a:r>
          </a:p>
          <a:p>
            <a:pPr algn="just">
              <a:lnSpc>
                <a:spcPct val="150000"/>
              </a:lnSpc>
            </a:pPr>
            <a:r>
              <a:rPr lang="en-US" sz="2400" dirty="0">
                <a:latin typeface="Times New Roman" panose="02020603050405020304" pitchFamily="18" charset="0"/>
                <a:cs typeface="Times New Roman" panose="02020603050405020304" pitchFamily="18" charset="0"/>
              </a:rPr>
              <a:t>After successful OTP verification, the user can set a new password and log in securely. </a:t>
            </a:r>
          </a:p>
          <a:p>
            <a:endParaRPr lang="ta-IN" dirty="0"/>
          </a:p>
        </p:txBody>
      </p:sp>
      <p:sp>
        <p:nvSpPr>
          <p:cNvPr id="7" name="TextBox 6">
            <a:extLst>
              <a:ext uri="{FF2B5EF4-FFF2-40B4-BE49-F238E27FC236}">
                <a16:creationId xmlns:a16="http://schemas.microsoft.com/office/drawing/2014/main" id="{F5E223BE-7B28-8FE2-29A6-830320A540AA}"/>
              </a:ext>
            </a:extLst>
          </p:cNvPr>
          <p:cNvSpPr txBox="1"/>
          <p:nvPr/>
        </p:nvSpPr>
        <p:spPr>
          <a:xfrm>
            <a:off x="366251" y="1023444"/>
            <a:ext cx="5729749" cy="523220"/>
          </a:xfrm>
          <a:prstGeom prst="rect">
            <a:avLst/>
          </a:prstGeom>
          <a:noFill/>
        </p:spPr>
        <p:txBody>
          <a:bodyPr wrap="square">
            <a:spAutoFit/>
          </a:bodyPr>
          <a:lstStyle/>
          <a:p>
            <a:r>
              <a:rPr lang="en-IN" sz="2800" b="1" dirty="0">
                <a:solidFill>
                  <a:schemeClr val="tx1"/>
                </a:solidFill>
                <a:latin typeface="Times New Roman" panose="02020603050405020304" pitchFamily="18" charset="0"/>
                <a:cs typeface="Times New Roman" panose="02020603050405020304" pitchFamily="18" charset="0"/>
              </a:rPr>
              <a:t>3. Password Recovery Module</a:t>
            </a:r>
            <a:endParaRPr lang="ta-IN" sz="2800" b="1" dirty="0"/>
          </a:p>
        </p:txBody>
      </p:sp>
      <p:pic>
        <p:nvPicPr>
          <p:cNvPr id="8" name="Picture 7">
            <a:extLst>
              <a:ext uri="{FF2B5EF4-FFF2-40B4-BE49-F238E27FC236}">
                <a16:creationId xmlns:a16="http://schemas.microsoft.com/office/drawing/2014/main" id="{2F2DF584-4024-6D10-F3A5-AA354BBA977F}"/>
              </a:ext>
            </a:extLst>
          </p:cNvPr>
          <p:cNvPicPr>
            <a:picLocks noChangeAspect="1"/>
          </p:cNvPicPr>
          <p:nvPr/>
        </p:nvPicPr>
        <p:blipFill>
          <a:blip r:embed="rId3"/>
          <a:stretch>
            <a:fillRect/>
          </a:stretch>
        </p:blipFill>
        <p:spPr>
          <a:xfrm>
            <a:off x="5723518" y="900299"/>
            <a:ext cx="3331030" cy="2832838"/>
          </a:xfrm>
          <a:prstGeom prst="rect">
            <a:avLst/>
          </a:prstGeom>
        </p:spPr>
      </p:pic>
      <p:pic>
        <p:nvPicPr>
          <p:cNvPr id="9" name="Picture 8">
            <a:extLst>
              <a:ext uri="{FF2B5EF4-FFF2-40B4-BE49-F238E27FC236}">
                <a16:creationId xmlns:a16="http://schemas.microsoft.com/office/drawing/2014/main" id="{93D08ED5-C7D5-33F2-F69B-BEAF55980DA9}"/>
              </a:ext>
            </a:extLst>
          </p:cNvPr>
          <p:cNvPicPr>
            <a:picLocks noChangeAspect="1"/>
          </p:cNvPicPr>
          <p:nvPr/>
        </p:nvPicPr>
        <p:blipFill>
          <a:blip r:embed="rId4"/>
          <a:stretch>
            <a:fillRect/>
          </a:stretch>
        </p:blipFill>
        <p:spPr>
          <a:xfrm>
            <a:off x="9210721" y="1023444"/>
            <a:ext cx="2743200" cy="2709693"/>
          </a:xfrm>
          <a:prstGeom prst="rect">
            <a:avLst/>
          </a:prstGeom>
        </p:spPr>
      </p:pic>
      <p:pic>
        <p:nvPicPr>
          <p:cNvPr id="10" name="Picture 9">
            <a:extLst>
              <a:ext uri="{FF2B5EF4-FFF2-40B4-BE49-F238E27FC236}">
                <a16:creationId xmlns:a16="http://schemas.microsoft.com/office/drawing/2014/main" id="{629174A1-B54B-8E57-41F7-22258E7EFDF6}"/>
              </a:ext>
            </a:extLst>
          </p:cNvPr>
          <p:cNvPicPr>
            <a:picLocks noChangeAspect="1"/>
          </p:cNvPicPr>
          <p:nvPr/>
        </p:nvPicPr>
        <p:blipFill>
          <a:blip r:embed="rId5"/>
          <a:stretch>
            <a:fillRect/>
          </a:stretch>
        </p:blipFill>
        <p:spPr>
          <a:xfrm>
            <a:off x="5723519" y="3822533"/>
            <a:ext cx="6230402" cy="267034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5" name="Google Shape;175;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14</a:t>
            </a:fld>
            <a:endParaRPr b="1">
              <a:solidFill>
                <a:schemeClr val="dk1"/>
              </a:solidFill>
            </a:endParaRPr>
          </a:p>
        </p:txBody>
      </p:sp>
      <p:sp>
        <p:nvSpPr>
          <p:cNvPr id="176" name="Google Shape;176;p13"/>
          <p:cNvSpPr txBox="1">
            <a:spLocks noGrp="1"/>
          </p:cNvSpPr>
          <p:nvPr>
            <p:ph type="title"/>
          </p:nvPr>
        </p:nvSpPr>
        <p:spPr>
          <a:xfrm>
            <a:off x="0" y="0"/>
            <a:ext cx="12192000" cy="566400"/>
          </a:xfrm>
          <a:prstGeom prst="rect">
            <a:avLst/>
          </a:prstGeom>
          <a:noFill/>
          <a:ln>
            <a:noFill/>
          </a:ln>
        </p:spPr>
        <p:txBody>
          <a:bodyPr spcFirstLastPara="1" wrap="square" lIns="91425" tIns="45700" rIns="91425" bIns="45700" anchor="ctr" anchorCtr="0">
            <a:normAutofit fontScale="90000"/>
          </a:bodyPr>
          <a:lstStyle/>
          <a:p>
            <a:pPr lvl="0" algn="ctr">
              <a:buSzPct val="100000"/>
            </a:pPr>
            <a:r>
              <a:rPr lang="en-US" b="1" dirty="0">
                <a:latin typeface="Arial Narrow"/>
                <a:ea typeface="Arial Narrow"/>
                <a:cs typeface="Arial Narrow"/>
                <a:sym typeface="Arial Narrow"/>
              </a:rPr>
              <a:t>IMPLEMENTATION OF MODULE - 4</a:t>
            </a:r>
            <a:endParaRPr b="1" dirty="0">
              <a:latin typeface="Arial Narrow"/>
              <a:ea typeface="Arial Narrow"/>
              <a:cs typeface="Arial Narrow"/>
              <a:sym typeface="Arial Narrow"/>
            </a:endParaRPr>
          </a:p>
        </p:txBody>
      </p:sp>
      <p:sp>
        <p:nvSpPr>
          <p:cNvPr id="7" name="TextBox 6">
            <a:extLst>
              <a:ext uri="{FF2B5EF4-FFF2-40B4-BE49-F238E27FC236}">
                <a16:creationId xmlns:a16="http://schemas.microsoft.com/office/drawing/2014/main" id="{27019880-A5E8-9924-BFE2-D8D7978C56C5}"/>
              </a:ext>
            </a:extLst>
          </p:cNvPr>
          <p:cNvSpPr txBox="1"/>
          <p:nvPr/>
        </p:nvSpPr>
        <p:spPr>
          <a:xfrm>
            <a:off x="304799" y="906029"/>
            <a:ext cx="5161936" cy="579967"/>
          </a:xfrm>
          <a:prstGeom prst="rect">
            <a:avLst/>
          </a:prstGeom>
          <a:noFill/>
        </p:spPr>
        <p:txBody>
          <a:bodyPr wrap="square">
            <a:spAutoFit/>
          </a:bodyPr>
          <a:lstStyle/>
          <a:p>
            <a:pPr algn="just">
              <a:lnSpc>
                <a:spcPct val="150000"/>
              </a:lnSpc>
            </a:pPr>
            <a:r>
              <a:rPr lang="en-IN" sz="2400" b="1" dirty="0">
                <a:solidFill>
                  <a:schemeClr val="tx1"/>
                </a:solidFill>
                <a:latin typeface="Times New Roman" panose="02020603050405020304" pitchFamily="18" charset="0"/>
                <a:cs typeface="Times New Roman" panose="02020603050405020304" pitchFamily="18" charset="0"/>
              </a:rPr>
              <a:t>4.  Real Admin Dashboard Module</a:t>
            </a:r>
          </a:p>
        </p:txBody>
      </p:sp>
      <p:sp>
        <p:nvSpPr>
          <p:cNvPr id="8" name="Rectangle 1">
            <a:extLst>
              <a:ext uri="{FF2B5EF4-FFF2-40B4-BE49-F238E27FC236}">
                <a16:creationId xmlns:a16="http://schemas.microsoft.com/office/drawing/2014/main" id="{15F77BFD-0C26-E2E7-97BB-AF14330FF6A8}"/>
              </a:ext>
            </a:extLst>
          </p:cNvPr>
          <p:cNvSpPr>
            <a:spLocks noGrp="1" noChangeArrowheads="1"/>
          </p:cNvSpPr>
          <p:nvPr>
            <p:ph type="body" idx="1"/>
          </p:nvPr>
        </p:nvSpPr>
        <p:spPr bwMode="auto">
          <a:xfrm>
            <a:off x="463344" y="2094793"/>
            <a:ext cx="4844846"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ta-IN" altLang="ta-IN"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IN" altLang="ta-IN" sz="2000" i="0" u="none" strike="noStrike" cap="none" normalizeH="0" baseline="0" dirty="0">
                <a:ln>
                  <a:noFill/>
                </a:ln>
                <a:solidFill>
                  <a:schemeClr val="tx1"/>
                </a:solidFill>
                <a:effectLst/>
                <a:latin typeface="Times New Roman" panose="02020603050405020304" pitchFamily="18" charset="0"/>
              </a:rPr>
              <a:t> </a:t>
            </a:r>
            <a:r>
              <a:rPr kumimoji="0" lang="ta-IN" altLang="ta-IN" sz="2000" i="0" u="none" strike="noStrike" cap="none" normalizeH="0" baseline="0" dirty="0">
                <a:ln>
                  <a:noFill/>
                </a:ln>
                <a:solidFill>
                  <a:schemeClr val="tx1"/>
                </a:solidFill>
                <a:effectLst/>
                <a:latin typeface="Times New Roman" panose="02020603050405020304" pitchFamily="18" charset="0"/>
              </a:rPr>
              <a:t>Displays overall system details like total users, login activity, and security logs.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IN" altLang="ta-IN" sz="2000" i="0" u="none" strike="noStrike" cap="none" normalizeH="0" baseline="0" dirty="0">
                <a:ln>
                  <a:noFill/>
                </a:ln>
                <a:solidFill>
                  <a:schemeClr val="tx1"/>
                </a:solidFill>
                <a:effectLst/>
                <a:latin typeface="Times New Roman" panose="02020603050405020304" pitchFamily="18" charset="0"/>
              </a:rPr>
              <a:t> </a:t>
            </a:r>
            <a:r>
              <a:rPr kumimoji="0" lang="ta-IN" altLang="ta-IN" sz="2000" i="0" u="none" strike="noStrike" cap="none" normalizeH="0" baseline="0" dirty="0">
                <a:ln>
                  <a:noFill/>
                </a:ln>
                <a:solidFill>
                  <a:schemeClr val="tx1"/>
                </a:solidFill>
                <a:effectLst/>
                <a:latin typeface="Times New Roman" panose="02020603050405020304" pitchFamily="18" charset="0"/>
              </a:rPr>
              <a:t>Allows admin to monitor system performance and user activities in real time.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IN" altLang="ta-IN" sz="2000" i="0" u="none" strike="noStrike" cap="none" normalizeH="0" baseline="0" dirty="0">
                <a:ln>
                  <a:noFill/>
                </a:ln>
                <a:solidFill>
                  <a:schemeClr val="tx1"/>
                </a:solidFill>
                <a:effectLst/>
                <a:latin typeface="Times New Roman" panose="02020603050405020304" pitchFamily="18" charset="0"/>
              </a:rPr>
              <a:t> </a:t>
            </a:r>
            <a:r>
              <a:rPr kumimoji="0" lang="ta-IN" altLang="ta-IN" sz="2000" i="0" u="none" strike="noStrike" cap="none" normalizeH="0" baseline="0" dirty="0">
                <a:ln>
                  <a:noFill/>
                </a:ln>
                <a:solidFill>
                  <a:schemeClr val="tx1"/>
                </a:solidFill>
                <a:effectLst/>
                <a:latin typeface="Times New Roman" panose="02020603050405020304" pitchFamily="18" charset="0"/>
              </a:rPr>
              <a:t>Provides access to important features like viewing logs, managing data, and tracking security events. </a:t>
            </a:r>
          </a:p>
        </p:txBody>
      </p:sp>
      <p:pic>
        <p:nvPicPr>
          <p:cNvPr id="9" name="Picture 8">
            <a:extLst>
              <a:ext uri="{FF2B5EF4-FFF2-40B4-BE49-F238E27FC236}">
                <a16:creationId xmlns:a16="http://schemas.microsoft.com/office/drawing/2014/main" id="{FF000F84-8B56-666C-6DBE-EF1C9D3A4F5C}"/>
              </a:ext>
            </a:extLst>
          </p:cNvPr>
          <p:cNvPicPr>
            <a:picLocks noChangeAspect="1"/>
          </p:cNvPicPr>
          <p:nvPr/>
        </p:nvPicPr>
        <p:blipFill>
          <a:blip r:embed="rId3"/>
          <a:stretch>
            <a:fillRect/>
          </a:stretch>
        </p:blipFill>
        <p:spPr>
          <a:xfrm>
            <a:off x="5647459" y="760587"/>
            <a:ext cx="5706341" cy="2668413"/>
          </a:xfrm>
          <a:prstGeom prst="rect">
            <a:avLst/>
          </a:prstGeom>
        </p:spPr>
      </p:pic>
      <p:pic>
        <p:nvPicPr>
          <p:cNvPr id="10" name="Picture 9">
            <a:extLst>
              <a:ext uri="{FF2B5EF4-FFF2-40B4-BE49-F238E27FC236}">
                <a16:creationId xmlns:a16="http://schemas.microsoft.com/office/drawing/2014/main" id="{59CCFFFA-2170-FA30-14EE-885917116A92}"/>
              </a:ext>
            </a:extLst>
          </p:cNvPr>
          <p:cNvPicPr>
            <a:picLocks noChangeAspect="1"/>
          </p:cNvPicPr>
          <p:nvPr/>
        </p:nvPicPr>
        <p:blipFill>
          <a:blip r:embed="rId4"/>
          <a:stretch>
            <a:fillRect/>
          </a:stretch>
        </p:blipFill>
        <p:spPr>
          <a:xfrm>
            <a:off x="5647458" y="3493750"/>
            <a:ext cx="5706341" cy="292693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AA842-DA8B-6980-523D-8F6B82F38434}"/>
              </a:ext>
            </a:extLst>
          </p:cNvPr>
          <p:cNvSpPr>
            <a:spLocks noGrp="1"/>
          </p:cNvSpPr>
          <p:nvPr>
            <p:ph type="title"/>
          </p:nvPr>
        </p:nvSpPr>
        <p:spPr>
          <a:xfrm>
            <a:off x="1506793" y="136525"/>
            <a:ext cx="10515600" cy="608269"/>
          </a:xfrm>
        </p:spPr>
        <p:txBody>
          <a:bodyPr>
            <a:normAutofit fontScale="90000"/>
          </a:bodyPr>
          <a:lstStyle/>
          <a:p>
            <a:pPr algn="ctr"/>
            <a:r>
              <a:rPr lang="en-US" sz="4000" b="1" dirty="0">
                <a:latin typeface="Arial Narrow"/>
                <a:ea typeface="Arial Narrow"/>
                <a:cs typeface="Arial Narrow"/>
                <a:sym typeface="Arial Narrow"/>
              </a:rPr>
              <a:t>IMPLEMENTATION OF MODULE - 5</a:t>
            </a:r>
            <a:endParaRPr lang="en-IN" sz="4000" dirty="0"/>
          </a:p>
        </p:txBody>
      </p:sp>
      <p:sp>
        <p:nvSpPr>
          <p:cNvPr id="4" name="Slide Number Placeholder 3">
            <a:extLst>
              <a:ext uri="{FF2B5EF4-FFF2-40B4-BE49-F238E27FC236}">
                <a16:creationId xmlns:a16="http://schemas.microsoft.com/office/drawing/2014/main" id="{CB9337DE-57CE-DD90-7765-1DF1C7463ED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sp>
        <p:nvSpPr>
          <p:cNvPr id="11" name="TextBox 10">
            <a:extLst>
              <a:ext uri="{FF2B5EF4-FFF2-40B4-BE49-F238E27FC236}">
                <a16:creationId xmlns:a16="http://schemas.microsoft.com/office/drawing/2014/main" id="{24BCCB80-229A-BDD1-3953-1516148A3EC1}"/>
              </a:ext>
            </a:extLst>
          </p:cNvPr>
          <p:cNvSpPr txBox="1"/>
          <p:nvPr/>
        </p:nvSpPr>
        <p:spPr>
          <a:xfrm>
            <a:off x="381702" y="1023599"/>
            <a:ext cx="4616588" cy="523220"/>
          </a:xfrm>
          <a:prstGeom prst="rect">
            <a:avLst/>
          </a:prstGeom>
          <a:noFill/>
        </p:spPr>
        <p:txBody>
          <a:bodyPr wrap="square">
            <a:spAutoFit/>
          </a:bodyPr>
          <a:lstStyle/>
          <a:p>
            <a:r>
              <a:rPr lang="en-IN" sz="2800" b="1" dirty="0">
                <a:solidFill>
                  <a:schemeClr val="tx1"/>
                </a:solidFill>
                <a:latin typeface="Times New Roman" panose="02020603050405020304" pitchFamily="18" charset="0"/>
                <a:cs typeface="Times New Roman" panose="02020603050405020304" pitchFamily="18" charset="0"/>
              </a:rPr>
              <a:t>5. Decoy Dashboard Module</a:t>
            </a:r>
            <a:endParaRPr lang="ta-IN" sz="2800" b="1" dirty="0"/>
          </a:p>
        </p:txBody>
      </p:sp>
      <p:sp>
        <p:nvSpPr>
          <p:cNvPr id="12" name="Rectangle 1">
            <a:extLst>
              <a:ext uri="{FF2B5EF4-FFF2-40B4-BE49-F238E27FC236}">
                <a16:creationId xmlns:a16="http://schemas.microsoft.com/office/drawing/2014/main" id="{A232C7F1-ABC6-7091-57FF-5F439A31CF6A}"/>
              </a:ext>
            </a:extLst>
          </p:cNvPr>
          <p:cNvSpPr>
            <a:spLocks noGrp="1" noChangeArrowheads="1"/>
          </p:cNvSpPr>
          <p:nvPr>
            <p:ph type="body" idx="1"/>
          </p:nvPr>
        </p:nvSpPr>
        <p:spPr bwMode="auto">
          <a:xfrm>
            <a:off x="608372" y="1739138"/>
            <a:ext cx="4002958"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ta-IN" altLang="ta-IN"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IN" altLang="ta-IN" sz="2000" i="0" u="none" strike="noStrike" cap="none" normalizeH="0" baseline="0" dirty="0">
                <a:ln>
                  <a:noFill/>
                </a:ln>
                <a:solidFill>
                  <a:schemeClr val="tx1"/>
                </a:solidFill>
                <a:effectLst/>
                <a:latin typeface="Times New Roman" panose="02020603050405020304" pitchFamily="18" charset="0"/>
              </a:rPr>
              <a:t> </a:t>
            </a:r>
            <a:r>
              <a:rPr kumimoji="0" lang="ta-IN" altLang="ta-IN" sz="2000" i="0" u="none" strike="noStrike" cap="none" normalizeH="0" baseline="0" dirty="0">
                <a:ln>
                  <a:noFill/>
                </a:ln>
                <a:solidFill>
                  <a:schemeClr val="tx1"/>
                </a:solidFill>
                <a:effectLst/>
                <a:latin typeface="Times New Roman" panose="02020603050405020304" pitchFamily="18" charset="0"/>
              </a:rPr>
              <a:t>After 3 failed login attempts, the system redirects the user to a fake (decoy) dashboard.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IN" altLang="ta-IN" sz="2000" i="0" u="none" strike="noStrike" cap="none" normalizeH="0" baseline="0" dirty="0">
                <a:ln>
                  <a:noFill/>
                </a:ln>
                <a:solidFill>
                  <a:schemeClr val="tx1"/>
                </a:solidFill>
                <a:effectLst/>
                <a:latin typeface="Times New Roman" panose="02020603050405020304" pitchFamily="18" charset="0"/>
              </a:rPr>
              <a:t> </a:t>
            </a:r>
            <a:r>
              <a:rPr kumimoji="0" lang="ta-IN" altLang="ta-IN" sz="2000" i="0" u="none" strike="noStrike" cap="none" normalizeH="0" baseline="0" dirty="0">
                <a:ln>
                  <a:noFill/>
                </a:ln>
                <a:solidFill>
                  <a:schemeClr val="tx1"/>
                </a:solidFill>
                <a:effectLst/>
                <a:latin typeface="Times New Roman" panose="02020603050405020304" pitchFamily="18" charset="0"/>
              </a:rPr>
              <a:t>It captures attacker details like IP address, device, and browser information.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IN" altLang="ta-IN" sz="2000" i="0" u="none" strike="noStrike" cap="none" normalizeH="0" baseline="0" dirty="0">
                <a:ln>
                  <a:noFill/>
                </a:ln>
                <a:solidFill>
                  <a:schemeClr val="tx1"/>
                </a:solidFill>
                <a:effectLst/>
                <a:latin typeface="Times New Roman" panose="02020603050405020304" pitchFamily="18" charset="0"/>
              </a:rPr>
              <a:t> </a:t>
            </a:r>
            <a:r>
              <a:rPr kumimoji="0" lang="ta-IN" altLang="ta-IN" sz="2000" i="0" u="none" strike="noStrike" cap="none" normalizeH="0" baseline="0" dirty="0">
                <a:ln>
                  <a:noFill/>
                </a:ln>
                <a:solidFill>
                  <a:schemeClr val="tx1"/>
                </a:solidFill>
                <a:effectLst/>
                <a:latin typeface="Times New Roman" panose="02020603050405020304" pitchFamily="18" charset="0"/>
              </a:rPr>
              <a:t>Helps enhance security by misleading attackers and storing their activity in security logs. </a:t>
            </a:r>
          </a:p>
        </p:txBody>
      </p:sp>
      <p:pic>
        <p:nvPicPr>
          <p:cNvPr id="13" name="Picture 12">
            <a:extLst>
              <a:ext uri="{FF2B5EF4-FFF2-40B4-BE49-F238E27FC236}">
                <a16:creationId xmlns:a16="http://schemas.microsoft.com/office/drawing/2014/main" id="{6089B25B-46E0-CB71-E9F3-B2AD48223FFB}"/>
              </a:ext>
            </a:extLst>
          </p:cNvPr>
          <p:cNvPicPr>
            <a:picLocks noChangeAspect="1"/>
          </p:cNvPicPr>
          <p:nvPr/>
        </p:nvPicPr>
        <p:blipFill>
          <a:blip r:embed="rId2"/>
          <a:stretch>
            <a:fillRect/>
          </a:stretch>
        </p:blipFill>
        <p:spPr>
          <a:xfrm>
            <a:off x="5270537" y="744794"/>
            <a:ext cx="6083264" cy="2509683"/>
          </a:xfrm>
          <a:prstGeom prst="rect">
            <a:avLst/>
          </a:prstGeom>
        </p:spPr>
      </p:pic>
      <p:pic>
        <p:nvPicPr>
          <p:cNvPr id="14" name="Picture 13">
            <a:extLst>
              <a:ext uri="{FF2B5EF4-FFF2-40B4-BE49-F238E27FC236}">
                <a16:creationId xmlns:a16="http://schemas.microsoft.com/office/drawing/2014/main" id="{F617CA30-69E1-E7F1-6998-F59F2669B081}"/>
              </a:ext>
            </a:extLst>
          </p:cNvPr>
          <p:cNvPicPr>
            <a:picLocks noChangeAspect="1"/>
          </p:cNvPicPr>
          <p:nvPr/>
        </p:nvPicPr>
        <p:blipFill>
          <a:blip r:embed="rId3"/>
          <a:stretch>
            <a:fillRect/>
          </a:stretch>
        </p:blipFill>
        <p:spPr>
          <a:xfrm>
            <a:off x="5332523" y="3254478"/>
            <a:ext cx="6083264" cy="3008976"/>
          </a:xfrm>
          <a:prstGeom prst="rect">
            <a:avLst/>
          </a:prstGeom>
        </p:spPr>
      </p:pic>
    </p:spTree>
    <p:extLst>
      <p:ext uri="{BB962C8B-B14F-4D97-AF65-F5344CB8AC3E}">
        <p14:creationId xmlns:p14="http://schemas.microsoft.com/office/powerpoint/2010/main" val="968712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A3E55-00A3-C95F-48F1-1A59E0D11512}"/>
              </a:ext>
            </a:extLst>
          </p:cNvPr>
          <p:cNvSpPr>
            <a:spLocks noGrp="1"/>
          </p:cNvSpPr>
          <p:nvPr>
            <p:ph type="title"/>
          </p:nvPr>
        </p:nvSpPr>
        <p:spPr>
          <a:xfrm>
            <a:off x="1416269" y="282519"/>
            <a:ext cx="9937531" cy="549275"/>
          </a:xfrm>
        </p:spPr>
        <p:txBody>
          <a:bodyPr>
            <a:noAutofit/>
          </a:bodyPr>
          <a:lstStyle/>
          <a:p>
            <a:pPr algn="ctr"/>
            <a:r>
              <a:rPr lang="en-US" sz="3600" b="1" dirty="0">
                <a:latin typeface="Arial Narrow"/>
                <a:ea typeface="Arial Narrow"/>
                <a:cs typeface="Arial Narrow"/>
                <a:sym typeface="Arial Narrow"/>
              </a:rPr>
              <a:t>IMPLEMENTATION OF MODULE – 6 </a:t>
            </a:r>
            <a:endParaRPr lang="en-IN" sz="3600" dirty="0"/>
          </a:p>
        </p:txBody>
      </p:sp>
      <p:sp>
        <p:nvSpPr>
          <p:cNvPr id="4" name="Slide Number Placeholder 3">
            <a:extLst>
              <a:ext uri="{FF2B5EF4-FFF2-40B4-BE49-F238E27FC236}">
                <a16:creationId xmlns:a16="http://schemas.microsoft.com/office/drawing/2014/main" id="{98680D05-A9B4-7C4D-6228-148B960C293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
        <p:nvSpPr>
          <p:cNvPr id="10" name="TextBox 9">
            <a:extLst>
              <a:ext uri="{FF2B5EF4-FFF2-40B4-BE49-F238E27FC236}">
                <a16:creationId xmlns:a16="http://schemas.microsoft.com/office/drawing/2014/main" id="{843704AF-A082-9FD5-7A41-792C67496EF2}"/>
              </a:ext>
            </a:extLst>
          </p:cNvPr>
          <p:cNvSpPr txBox="1"/>
          <p:nvPr/>
        </p:nvSpPr>
        <p:spPr>
          <a:xfrm>
            <a:off x="740836" y="865925"/>
            <a:ext cx="4755931" cy="584775"/>
          </a:xfrm>
          <a:prstGeom prst="rect">
            <a:avLst/>
          </a:prstGeom>
          <a:noFill/>
        </p:spPr>
        <p:txBody>
          <a:bodyPr wrap="square">
            <a:spAutoFit/>
          </a:bodyPr>
          <a:lstStyle/>
          <a:p>
            <a:r>
              <a:rPr lang="en-IN" sz="3200" b="1" dirty="0">
                <a:solidFill>
                  <a:schemeClr val="tx1"/>
                </a:solidFill>
                <a:latin typeface="Times New Roman" panose="02020603050405020304" pitchFamily="18" charset="0"/>
                <a:cs typeface="Times New Roman" panose="02020603050405020304" pitchFamily="18" charset="0"/>
              </a:rPr>
              <a:t>6. Alert Module</a:t>
            </a:r>
            <a:endParaRPr lang="ta-IN" sz="3200" b="1" dirty="0"/>
          </a:p>
        </p:txBody>
      </p:sp>
      <p:sp>
        <p:nvSpPr>
          <p:cNvPr id="11" name="Rectangle 1">
            <a:extLst>
              <a:ext uri="{FF2B5EF4-FFF2-40B4-BE49-F238E27FC236}">
                <a16:creationId xmlns:a16="http://schemas.microsoft.com/office/drawing/2014/main" id="{A2A1D62B-8F9E-0541-E289-73434CE60EB1}"/>
              </a:ext>
            </a:extLst>
          </p:cNvPr>
          <p:cNvSpPr>
            <a:spLocks noGrp="1" noChangeArrowheads="1"/>
          </p:cNvSpPr>
          <p:nvPr>
            <p:ph type="body" idx="1"/>
          </p:nvPr>
        </p:nvSpPr>
        <p:spPr bwMode="auto">
          <a:xfrm>
            <a:off x="500212" y="1744758"/>
            <a:ext cx="5237177"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ta-IN" altLang="ta-IN" sz="180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IN" altLang="ta-IN" sz="2400" i="0" u="none" strike="noStrike" cap="none" normalizeH="0" baseline="0" dirty="0">
                <a:ln>
                  <a:noFill/>
                </a:ln>
                <a:solidFill>
                  <a:schemeClr val="tx1"/>
                </a:solidFill>
                <a:effectLst/>
                <a:latin typeface="Times New Roman" panose="02020603050405020304" pitchFamily="18" charset="0"/>
              </a:rPr>
              <a:t> </a:t>
            </a:r>
            <a:r>
              <a:rPr kumimoji="0" lang="ta-IN" altLang="ta-IN" sz="2400" i="0" u="none" strike="noStrike" cap="none" normalizeH="0" baseline="0" dirty="0">
                <a:ln>
                  <a:noFill/>
                </a:ln>
                <a:solidFill>
                  <a:schemeClr val="tx1"/>
                </a:solidFill>
                <a:effectLst/>
                <a:latin typeface="Times New Roman" panose="02020603050405020304" pitchFamily="18" charset="0"/>
              </a:rPr>
              <a:t>Sends security alerts to the admin when suspicious activities occur (e.g., multiple failed login attempts).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IN" altLang="ta-IN" sz="2400" i="0" u="none" strike="noStrike" cap="none" normalizeH="0" baseline="0" dirty="0">
                <a:ln>
                  <a:noFill/>
                </a:ln>
                <a:solidFill>
                  <a:schemeClr val="tx1"/>
                </a:solidFill>
                <a:effectLst/>
                <a:latin typeface="Times New Roman" panose="02020603050405020304" pitchFamily="18" charset="0"/>
              </a:rPr>
              <a:t> </a:t>
            </a:r>
            <a:r>
              <a:rPr kumimoji="0" lang="ta-IN" altLang="ta-IN" sz="2400" i="0" u="none" strike="noStrike" cap="none" normalizeH="0" baseline="0" dirty="0">
                <a:ln>
                  <a:noFill/>
                </a:ln>
                <a:solidFill>
                  <a:schemeClr val="tx1"/>
                </a:solidFill>
                <a:effectLst/>
                <a:latin typeface="Times New Roman" panose="02020603050405020304" pitchFamily="18" charset="0"/>
              </a:rPr>
              <a:t>Notifies through email or system notifications for quick awareness.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IN" altLang="ta-IN" sz="2400" i="0" u="none" strike="noStrike" cap="none" normalizeH="0" baseline="0" dirty="0">
                <a:ln>
                  <a:noFill/>
                </a:ln>
                <a:solidFill>
                  <a:schemeClr val="tx1"/>
                </a:solidFill>
                <a:effectLst/>
                <a:latin typeface="Times New Roman" panose="02020603050405020304" pitchFamily="18" charset="0"/>
              </a:rPr>
              <a:t> </a:t>
            </a:r>
            <a:r>
              <a:rPr kumimoji="0" lang="ta-IN" altLang="ta-IN" sz="2400" i="0" u="none" strike="noStrike" cap="none" normalizeH="0" baseline="0" dirty="0">
                <a:ln>
                  <a:noFill/>
                </a:ln>
                <a:solidFill>
                  <a:schemeClr val="tx1"/>
                </a:solidFill>
                <a:effectLst/>
                <a:latin typeface="Times New Roman" panose="02020603050405020304" pitchFamily="18" charset="0"/>
              </a:rPr>
              <a:t>Helps the admin take immediate action to protect the system and user data. </a:t>
            </a:r>
          </a:p>
        </p:txBody>
      </p:sp>
      <p:pic>
        <p:nvPicPr>
          <p:cNvPr id="12" name="Picture 11">
            <a:extLst>
              <a:ext uri="{FF2B5EF4-FFF2-40B4-BE49-F238E27FC236}">
                <a16:creationId xmlns:a16="http://schemas.microsoft.com/office/drawing/2014/main" id="{67802896-2E91-3251-3353-DA48E5D552AF}"/>
              </a:ext>
            </a:extLst>
          </p:cNvPr>
          <p:cNvPicPr>
            <a:picLocks noChangeAspect="1"/>
          </p:cNvPicPr>
          <p:nvPr/>
        </p:nvPicPr>
        <p:blipFill>
          <a:blip r:embed="rId2"/>
          <a:stretch>
            <a:fillRect/>
          </a:stretch>
        </p:blipFill>
        <p:spPr>
          <a:xfrm>
            <a:off x="7089058" y="1940876"/>
            <a:ext cx="3570514" cy="3461658"/>
          </a:xfrm>
          <a:prstGeom prst="rect">
            <a:avLst/>
          </a:prstGeom>
        </p:spPr>
      </p:pic>
    </p:spTree>
    <p:extLst>
      <p:ext uri="{BB962C8B-B14F-4D97-AF65-F5344CB8AC3E}">
        <p14:creationId xmlns:p14="http://schemas.microsoft.com/office/powerpoint/2010/main" val="6816967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6"/>
          <p:cNvSpPr txBox="1">
            <a:spLocks noGrp="1"/>
          </p:cNvSpPr>
          <p:nvPr>
            <p:ph type="title"/>
          </p:nvPr>
        </p:nvSpPr>
        <p:spPr>
          <a:xfrm>
            <a:off x="62550" y="232387"/>
            <a:ext cx="12066900" cy="897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b="1">
                <a:latin typeface="Arial Narrow"/>
                <a:ea typeface="Arial Narrow"/>
                <a:cs typeface="Arial Narrow"/>
                <a:sym typeface="Arial Narrow"/>
              </a:rPr>
              <a:t>CONCLUSION</a:t>
            </a:r>
            <a:endParaRPr b="1">
              <a:latin typeface="Arial Narrow"/>
              <a:ea typeface="Arial Narrow"/>
              <a:cs typeface="Arial Narrow"/>
              <a:sym typeface="Arial Narrow"/>
            </a:endParaRPr>
          </a:p>
        </p:txBody>
      </p:sp>
      <p:sp>
        <p:nvSpPr>
          <p:cNvPr id="195" name="Google Shape;195;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5715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ShopNova</a:t>
            </a:r>
            <a:r>
              <a:rPr lang="en-US" sz="2400" dirty="0">
                <a:latin typeface="Times New Roman" panose="02020603050405020304" pitchFamily="18" charset="0"/>
                <a:cs typeface="Times New Roman" panose="02020603050405020304" pitchFamily="18" charset="0"/>
              </a:rPr>
              <a:t> Admin Panel shows how layered security (OTP, brute-force protection, and decoy dashboard) helps prevent unauthorized access. </a:t>
            </a:r>
          </a:p>
          <a:p>
            <a:pPr marL="5715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 It ensures admins are alerted about suspicious activity while maintaining strong and efficient protection for e-commerce systems</a:t>
            </a:r>
            <a:endParaRPr lang="ta-IN" sz="2400" dirty="0">
              <a:latin typeface="Times New Roman" panose="02020603050405020304" pitchFamily="18" charset="0"/>
            </a:endParaRPr>
          </a:p>
          <a:p>
            <a:pPr marL="0" lvl="0" indent="0">
              <a:spcBef>
                <a:spcPts val="0"/>
              </a:spcBef>
              <a:buSzPts val="2800"/>
              <a:buNone/>
            </a:pPr>
            <a:endParaRPr lang="en-US" dirty="0">
              <a:latin typeface="Arial Narrow" panose="020B0606020202030204" pitchFamily="34" charset="0"/>
            </a:endParaRPr>
          </a:p>
          <a:p>
            <a:pPr marL="0" lvl="0" indent="0">
              <a:buSzPts val="2800"/>
              <a:buNone/>
            </a:pPr>
            <a:endParaRPr lang="en-US" dirty="0">
              <a:latin typeface="Arial Narrow" panose="020B0606020202030204" pitchFamily="34" charset="0"/>
            </a:endParaRPr>
          </a:p>
        </p:txBody>
      </p:sp>
      <p:sp>
        <p:nvSpPr>
          <p:cNvPr id="196" name="Google Shape;19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solidFill>
                  <a:schemeClr val="dk1"/>
                </a:solidFill>
              </a:rPr>
              <a:t>17</a:t>
            </a:fld>
            <a:endParaRPr>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3">
          <a:extLst>
            <a:ext uri="{FF2B5EF4-FFF2-40B4-BE49-F238E27FC236}">
              <a16:creationId xmlns:a16="http://schemas.microsoft.com/office/drawing/2014/main" id="{158DC945-209D-3CC4-978D-F1775DC4CA21}"/>
            </a:ext>
          </a:extLst>
        </p:cNvPr>
        <p:cNvGrpSpPr/>
        <p:nvPr/>
      </p:nvGrpSpPr>
      <p:grpSpPr>
        <a:xfrm>
          <a:off x="0" y="0"/>
          <a:ext cx="0" cy="0"/>
          <a:chOff x="0" y="0"/>
          <a:chExt cx="0" cy="0"/>
        </a:xfrm>
      </p:grpSpPr>
      <p:sp>
        <p:nvSpPr>
          <p:cNvPr id="194" name="Google Shape;194;p16">
            <a:extLst>
              <a:ext uri="{FF2B5EF4-FFF2-40B4-BE49-F238E27FC236}">
                <a16:creationId xmlns:a16="http://schemas.microsoft.com/office/drawing/2014/main" id="{41AD951B-2AFC-752E-2E78-41812B04042F}"/>
              </a:ext>
            </a:extLst>
          </p:cNvPr>
          <p:cNvSpPr txBox="1">
            <a:spLocks noGrp="1"/>
          </p:cNvSpPr>
          <p:nvPr>
            <p:ph type="title"/>
          </p:nvPr>
        </p:nvSpPr>
        <p:spPr>
          <a:xfrm>
            <a:off x="0" y="232387"/>
            <a:ext cx="12066900" cy="897300"/>
          </a:xfrm>
          <a:prstGeom prst="rect">
            <a:avLst/>
          </a:prstGeom>
          <a:noFill/>
          <a:ln>
            <a:noFill/>
          </a:ln>
        </p:spPr>
        <p:txBody>
          <a:bodyPr spcFirstLastPara="1" wrap="square" lIns="91425" tIns="45700" rIns="91425" bIns="45700" anchor="ctr" anchorCtr="0">
            <a:normAutofit/>
          </a:bodyPr>
          <a:lstStyle/>
          <a:p>
            <a:pPr lvl="0" algn="ctr">
              <a:buSzPts val="4400"/>
            </a:pPr>
            <a:r>
              <a:rPr lang="en-US" b="1" dirty="0">
                <a:latin typeface="Arial Narrow"/>
              </a:rPr>
              <a:t>FUTURE ENHANCEMENTS </a:t>
            </a:r>
            <a:endParaRPr b="1" dirty="0">
              <a:latin typeface="Arial Narrow"/>
              <a:sym typeface="Arial Narrow"/>
            </a:endParaRPr>
          </a:p>
        </p:txBody>
      </p:sp>
      <p:sp>
        <p:nvSpPr>
          <p:cNvPr id="195" name="Google Shape;195;p16">
            <a:extLst>
              <a:ext uri="{FF2B5EF4-FFF2-40B4-BE49-F238E27FC236}">
                <a16:creationId xmlns:a16="http://schemas.microsoft.com/office/drawing/2014/main" id="{648B83C1-3DE7-3E3F-40F8-76D0B6241301}"/>
              </a:ext>
            </a:extLst>
          </p:cNvPr>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5715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Future improvements include real-time IP tracking and geolocation to identify attackers more accurately. </a:t>
            </a:r>
          </a:p>
          <a:p>
            <a:pPr marL="5715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 Integrating databases like Firebase or MongoDB can enable user management and activity logs, while adding biometric authentication can further enhance security beyond OTP.</a:t>
            </a:r>
            <a:endParaRPr lang="ta-IN" sz="2400" dirty="0">
              <a:latin typeface="Times New Roman" panose="02020603050405020304" pitchFamily="18" charset="0"/>
            </a:endParaRPr>
          </a:p>
          <a:p>
            <a:pPr marL="0" lvl="0" indent="0">
              <a:spcBef>
                <a:spcPts val="0"/>
              </a:spcBef>
              <a:buSzPts val="2800"/>
              <a:buNone/>
            </a:pPr>
            <a:endParaRPr lang="en-US" dirty="0">
              <a:latin typeface="Arial Narrow" panose="020B0606020202030204" pitchFamily="34" charset="0"/>
            </a:endParaRPr>
          </a:p>
        </p:txBody>
      </p:sp>
      <p:sp>
        <p:nvSpPr>
          <p:cNvPr id="196" name="Google Shape;196;p16">
            <a:extLst>
              <a:ext uri="{FF2B5EF4-FFF2-40B4-BE49-F238E27FC236}">
                <a16:creationId xmlns:a16="http://schemas.microsoft.com/office/drawing/2014/main" id="{5F65EE21-0D87-9A7B-FC62-462463E7E7B8}"/>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solidFill>
                  <a:schemeClr val="dk1"/>
                </a:solidFill>
              </a:rPr>
              <a:t>18</a:t>
            </a:fld>
            <a:endParaRPr>
              <a:solidFill>
                <a:schemeClr val="dk1"/>
              </a:solidFill>
            </a:endParaRPr>
          </a:p>
        </p:txBody>
      </p:sp>
    </p:spTree>
    <p:extLst>
      <p:ext uri="{BB962C8B-B14F-4D97-AF65-F5344CB8AC3E}">
        <p14:creationId xmlns:p14="http://schemas.microsoft.com/office/powerpoint/2010/main" val="2834070451"/>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352</TotalTime>
  <Words>924</Words>
  <Application>Microsoft Office PowerPoint</Application>
  <PresentationFormat>Widescreen</PresentationFormat>
  <Paragraphs>136</Paragraphs>
  <Slides>18</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Times New Roman</vt:lpstr>
      <vt:lpstr>Arial Narrow</vt:lpstr>
      <vt:lpstr>Calibri</vt:lpstr>
      <vt:lpstr>Office Theme</vt:lpstr>
      <vt:lpstr>PowerPoint Presentation</vt:lpstr>
      <vt:lpstr>PowerPoint Presentation</vt:lpstr>
      <vt:lpstr>OBJECTIVE OF THE PROJECT</vt:lpstr>
      <vt:lpstr>INTRODUCTION</vt:lpstr>
      <vt:lpstr>PowerPoint Presentation</vt:lpstr>
      <vt:lpstr>PowerPoint Presentation</vt:lpstr>
      <vt:lpstr>PowerPoint Presentation</vt:lpstr>
      <vt:lpstr>PowerPoint Presentation</vt:lpstr>
      <vt:lpstr>SOFTWARE AND HARDWARE REQUIREMENTS </vt:lpstr>
      <vt:lpstr>MODULES </vt:lpstr>
      <vt:lpstr>IMPLEMENTATION OF MODULE - 1</vt:lpstr>
      <vt:lpstr>IMPLEMENTATION OF MODULE - 2</vt:lpstr>
      <vt:lpstr>IMPLEMENTATION OF MODULE - 3</vt:lpstr>
      <vt:lpstr>IMPLEMENTATION OF MODULE - 4</vt:lpstr>
      <vt:lpstr>IMPLEMENTATION OF MODULE - 5</vt:lpstr>
      <vt:lpstr>IMPLEMENTATION OF MODULE – 6 </vt:lpstr>
      <vt:lpstr>CONCLUSION</vt:lpstr>
      <vt:lpstr>FUTURE ENHANCEMENTS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Saravanan M</dc:creator>
  <cp:lastModifiedBy>SINDHUJA SUBRAMANI</cp:lastModifiedBy>
  <cp:revision>16</cp:revision>
  <dcterms:modified xsi:type="dcterms:W3CDTF">2026-05-04T17:10:42Z</dcterms:modified>
</cp:coreProperties>
</file>